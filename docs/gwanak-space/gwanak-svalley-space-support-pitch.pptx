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5aa213a1bf43ad" /><Relationship Type="http://schemas.openxmlformats.org/officeDocument/2006/relationships/extended-properties" Target="/docProps/app.xml" Id="R92fd95dcf37b44a7" /><Relationship Type="http://schemas.openxmlformats.org/officeDocument/2006/relationships/officeDocument" Target="/ppt/presentation.xml" Id="R09c77fb8ce4047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3a9102b21df4128"/>
  </p:sldMasterIdLst>
  <p:notesMasterIdLst>
    <p:notesMasterId xmlns:r="http://schemas.openxmlformats.org/officeDocument/2006/relationships" r:id="R897347143c91496e"/>
  </p:notesMasterIdLst>
  <p:sldIdLst>
    <p:sldId xmlns:r="http://schemas.openxmlformats.org/officeDocument/2006/relationships" id="256" r:id="R2ab6376611e8440e"/>
    <p:sldId xmlns:r="http://schemas.openxmlformats.org/officeDocument/2006/relationships" id="257" r:id="Ra850c0c9ba254024"/>
    <p:sldId xmlns:r="http://schemas.openxmlformats.org/officeDocument/2006/relationships" id="258" r:id="Rc50142edafda453d"/>
    <p:sldId xmlns:r="http://schemas.openxmlformats.org/officeDocument/2006/relationships" id="259" r:id="R5ed7dfc62c49494c"/>
    <p:sldId xmlns:r="http://schemas.openxmlformats.org/officeDocument/2006/relationships" id="260" r:id="R4eb7afde19734b07"/>
    <p:sldId xmlns:r="http://schemas.openxmlformats.org/officeDocument/2006/relationships" id="261" r:id="R63efac2effa44029"/>
    <p:sldId xmlns:r="http://schemas.openxmlformats.org/officeDocument/2006/relationships" id="262" r:id="R61fc0414bfb544ae"/>
    <p:sldId xmlns:r="http://schemas.openxmlformats.org/officeDocument/2006/relationships" id="263" r:id="Rd73f92bad2d447af"/>
    <p:sldId xmlns:r="http://schemas.openxmlformats.org/officeDocument/2006/relationships" id="264" r:id="R7872fb78c620490b"/>
    <p:sldId xmlns:r="http://schemas.openxmlformats.org/officeDocument/2006/relationships" id="265" r:id="Rca52236ee7004467"/>
    <p:sldId xmlns:r="http://schemas.openxmlformats.org/officeDocument/2006/relationships" id="266" r:id="R872ee4f2e873475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e21d062259f4fe3" /><Relationship Type="http://schemas.openxmlformats.org/officeDocument/2006/relationships/slideMaster" Target="/ppt/slideMasters/slideMaster1.xml" Id="R73a9102b21df4128" /><Relationship Type="http://schemas.openxmlformats.org/officeDocument/2006/relationships/notesMaster" Target="/ppt/notesMasters/notesMaster1.xml" Id="R897347143c91496e" /><Relationship Type="http://schemas.openxmlformats.org/officeDocument/2006/relationships/presProps" Target="/ppt/presProps.xml" Id="Rc90a4204dd1d4af5" /><Relationship Type="http://schemas.openxmlformats.org/officeDocument/2006/relationships/viewProps" Target="/ppt/viewProps.xml" Id="R8abe22fbc577416b" /><Relationship Type="http://schemas.openxmlformats.org/officeDocument/2006/relationships/tableStyles" Target="/ppt/tableStyles.xml" Id="R0aaa1744f7d24ea4" /><Relationship Type="http://schemas.openxmlformats.org/officeDocument/2006/relationships/slide" Target="/ppt/slides/slide1.xml" Id="R2ab6376611e8440e" /><Relationship Type="http://schemas.openxmlformats.org/officeDocument/2006/relationships/slide" Target="/ppt/slides/slide2.xml" Id="Ra850c0c9ba254024" /><Relationship Type="http://schemas.openxmlformats.org/officeDocument/2006/relationships/slide" Target="/ppt/slides/slide3.xml" Id="Rc50142edafda453d" /><Relationship Type="http://schemas.openxmlformats.org/officeDocument/2006/relationships/slide" Target="/ppt/slides/slide4.xml" Id="R5ed7dfc62c49494c" /><Relationship Type="http://schemas.openxmlformats.org/officeDocument/2006/relationships/slide" Target="/ppt/slides/slide5.xml" Id="R4eb7afde19734b07" /><Relationship Type="http://schemas.openxmlformats.org/officeDocument/2006/relationships/slide" Target="/ppt/slides/slide6.xml" Id="R63efac2effa44029" /><Relationship Type="http://schemas.openxmlformats.org/officeDocument/2006/relationships/slide" Target="/ppt/slides/slide7.xml" Id="R61fc0414bfb544ae" /><Relationship Type="http://schemas.openxmlformats.org/officeDocument/2006/relationships/slide" Target="/ppt/slides/slide8.xml" Id="Rd73f92bad2d447af" /><Relationship Type="http://schemas.openxmlformats.org/officeDocument/2006/relationships/slide" Target="/ppt/slides/slide9.xml" Id="R7872fb78c620490b" /><Relationship Type="http://schemas.openxmlformats.org/officeDocument/2006/relationships/slide" Target="/ppt/slides/slide10.xml" Id="Rca52236ee7004467" /><Relationship Type="http://schemas.openxmlformats.org/officeDocument/2006/relationships/slide" Target="/ppt/slides/slide11.xml" Id="R872ee4f2e87347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96a496922244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5bf02efa18e4ac1" /><Relationship Type="http://schemas.openxmlformats.org/officeDocument/2006/relationships/notesMaster" Target="/ppt/notesMasters/notesMaster1.xml" Id="Ra37a99a7f1b545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306f492a2d41f8" /><Relationship Type="http://schemas.openxmlformats.org/officeDocument/2006/relationships/notesMaster" Target="/ppt/notesMasters/notesMaster1.xml" Id="R1eb8d7396888463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cb2fd8eed2b41d3" /><Relationship Type="http://schemas.openxmlformats.org/officeDocument/2006/relationships/notesMaster" Target="/ppt/notesMasters/notesMaster1.xml" Id="Radd0f837680941c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b62187c55dd4877" /><Relationship Type="http://schemas.openxmlformats.org/officeDocument/2006/relationships/notesMaster" Target="/ppt/notesMasters/notesMaster1.xml" Id="R9f7c863b62be47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beca25c466b47b4" /><Relationship Type="http://schemas.openxmlformats.org/officeDocument/2006/relationships/notesMaster" Target="/ppt/notesMasters/notesMaster1.xml" Id="R8090a6f7121540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9d429551c644584" /><Relationship Type="http://schemas.openxmlformats.org/officeDocument/2006/relationships/notesMaster" Target="/ppt/notesMasters/notesMaster1.xml" Id="R66af800a16d84a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34eb7c9742407a" /><Relationship Type="http://schemas.openxmlformats.org/officeDocument/2006/relationships/notesMaster" Target="/ppt/notesMasters/notesMaster1.xml" Id="Rd8f7adc58d1243f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b72232378f4ae6" /><Relationship Type="http://schemas.openxmlformats.org/officeDocument/2006/relationships/notesMaster" Target="/ppt/notesMasters/notesMaster1.xml" Id="R5cc3f9ea39b642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f68488ea6254b0c" /><Relationship Type="http://schemas.openxmlformats.org/officeDocument/2006/relationships/notesMaster" Target="/ppt/notesMasters/notesMaster1.xml" Id="R9302f676d5cd439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82e8c46d2c4b67" /><Relationship Type="http://schemas.openxmlformats.org/officeDocument/2006/relationships/notesMaster" Target="/ppt/notesMasters/notesMaster1.xml" Id="Rcc027e7a93034e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c999f0996f4e02" /><Relationship Type="http://schemas.openxmlformats.org/officeDocument/2006/relationships/notesMaster" Target="/ppt/notesMasters/notesMaster1.xml" Id="Rdb467badee3143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201ba2a504473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83a6c2fe914270" /><Relationship Type="http://schemas.openxmlformats.org/officeDocument/2006/relationships/slideLayout" Target="/ppt/slideLayouts/slideLayout1.xml" Id="R6bbe4a0e5be54b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be4a0e5be54b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01c154e854e96" /><Relationship Type="http://schemas.openxmlformats.org/officeDocument/2006/relationships/notesSlide" Target="/ppt/notesSlides/notesSlide1.xml" Id="R956d700d76be405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309058aa274942" /><Relationship Type="http://schemas.openxmlformats.org/officeDocument/2006/relationships/notesSlide" Target="/ppt/notesSlides/notesSlide2.xml" Id="Raa2a0693bfa34d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4b222d38a84e1f" /><Relationship Type="http://schemas.openxmlformats.org/officeDocument/2006/relationships/notesSlide" Target="/ppt/notesSlides/notesSlide3.xml" Id="Rf7724aedaa274c0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a7869739764c3b" /><Relationship Type="http://schemas.openxmlformats.org/officeDocument/2006/relationships/notesSlide" Target="/ppt/notesSlides/notesSlide4.xml" Id="R0927ccbb55c745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dd1080fc734f7b" /><Relationship Type="http://schemas.openxmlformats.org/officeDocument/2006/relationships/notesSlide" Target="/ppt/notesSlides/notesSlide5.xml" Id="Rec4117bb6bb84d9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8ed1cb73324053" /><Relationship Type="http://schemas.openxmlformats.org/officeDocument/2006/relationships/image" Target="/ppt/media/image.png" Id="R62e817ed79714f31" /><Relationship Type="http://schemas.openxmlformats.org/officeDocument/2006/relationships/notesSlide" Target="/ppt/notesSlides/notesSlide6.xml" Id="R37bac2b5b9174f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c10c05a2e74159" /><Relationship Type="http://schemas.openxmlformats.org/officeDocument/2006/relationships/notesSlide" Target="/ppt/notesSlides/notesSlide7.xml" Id="R089f9075b3ff44b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35dec7a6c8442d" /><Relationship Type="http://schemas.openxmlformats.org/officeDocument/2006/relationships/notesSlide" Target="/ppt/notesSlides/notesSlide8.xml" Id="R6df4290a8c6d431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00b588a9849c0" /><Relationship Type="http://schemas.openxmlformats.org/officeDocument/2006/relationships/notesSlide" Target="/ppt/notesSlides/notesSlide9.xml" Id="R30fd79251ae5440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7e5c0f33fd4515" /><Relationship Type="http://schemas.openxmlformats.org/officeDocument/2006/relationships/notesSlide" Target="/ppt/notesSlides/notesSlide10.xml" Id="Rdd2052f0b80e4d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cd1ab2e1d54330" /><Relationship Type="http://schemas.openxmlformats.org/officeDocument/2006/relationships/notesSlide" Target="/ppt/notesSlides/notesSlide11.xml" Id="R7a082892f1e9462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AF0703-ED85-4629-9F4A-FD26391C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F8A3AD-8632-4CCA-BEE7-F714E65C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7D3EF7-CD8F-4F79-9171-CACC7117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창업 공간 입주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7D115C-1770-4D2C-B47C-F8FBC745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6E86F-DBFE-4C6D-BC1F-61D54772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BD86A-331E-470E-8B73-AC7AABB9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2026년 제2차 관악S밸리 창업 공간 신규 입주기업 모집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8F5B9-4386-4849-A139-CB5850C4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74295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8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8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AI 게임 제작 플랫폼과 자체 신작을</a:t>
            </a:r>
          </a:p>
          <a:p xmlns:a="http://schemas.openxmlformats.org/drawingml/2006/main">
            <a:pPr algn="l">
              <a:defRPr sz="38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8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함께 검증하는 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6AF49-EAE6-4672-A877-22C018F7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주식회사 유니온잼 발표자료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B9ED7-B83A-41E2-BC1C-1EA87CD7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BC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6C4D22-0E1F-42E7-AF50-24757488B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14700"/>
            <a:ext cx="2857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3D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E3D5F"/>
                </a:solidFill>
                <a:latin typeface="Apple SD Gothic Neo"/>
                <a:ea typeface="Apple SD Gothic Neo"/>
                <a:cs typeface="Apple SD Gothic Neo"/>
              </a:rPr>
              <a:t>희망 입주 형태: 독립형 사무실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462F1-1D37-457C-8E45-A5597A60E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9575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9FC00-CFA6-4F9F-B504-BC255F43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00550"/>
            <a:ext cx="304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IDLE Forge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BDB9E-54E7-47FD-9591-D0B0830A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14900"/>
            <a:ext cx="342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닌자 서바이벌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EFC757-05CE-4050-87D5-9606B7AF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1495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D6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725" b="1">
                <a:solidFill>
                  <a:srgbClr val="2F7D63"/>
                </a:solidFill>
                <a:latin typeface="Apple SD Gothic Neo"/>
                <a:ea typeface="Apple SD Gothic Neo"/>
                <a:cs typeface="Apple SD Gothic Neo"/>
              </a:rPr>
              <a:t>햄스터키우기 웹 프로토타입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99448F-D7C7-4521-9D43-AFC7796D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933450"/>
            <a:ext cx="30480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BB86E-3BDE-440E-B6B8-04BD846FE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257300"/>
            <a:ext cx="1714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BD3B1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BD3B1"/>
                </a:solidFill>
                <a:latin typeface="Apple SD Gothic Neo"/>
                <a:ea typeface="Apple SD Gothic Neo"/>
                <a:cs typeface="Apple SD Gothic Neo"/>
              </a:rPr>
              <a:t>발표 핵심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5AEFE4-517E-4B2C-9C27-6597724A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695450"/>
            <a:ext cx="2381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공간은 반복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개발·검수·테스트를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가능하게 하는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협업 조건입니다.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974EF-2709-4D3E-A581-2E76A436F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546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7F9A85-58D6-4FB4-8F15-97D19103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81450"/>
            <a:ext cx="2333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FDAE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CFDAE4"/>
                </a:solidFill>
                <a:latin typeface="Apple SD Gothic Neo"/>
                <a:ea typeface="Apple SD Gothic Neo"/>
                <a:cs typeface="Apple SD Gothic Neo"/>
              </a:rPr>
              <a:t>현재: 재택 + 관악구 스터디카페 + 임시 회의 공간</a:t>
            </a:r>
          </a:p>
          <a:p xmlns:a="http://schemas.openxmlformats.org/drawingml/2006/main">
            <a:pPr algn="l">
              <a:defRPr sz="1275" b="0">
                <a:solidFill>
                  <a:srgbClr val="CFDAE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CFDAE4"/>
                </a:solidFill>
                <a:latin typeface="Apple SD Gothic Neo"/>
                <a:ea typeface="Apple SD Gothic Neo"/>
                <a:cs typeface="Apple SD Gothic Neo"/>
              </a:rPr>
              <a:t>입주 후: 관악구 내 정기 협업 공간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BC8D8-8BA5-4F86-B83D-51AD6E25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2197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B8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0B84A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</p:spTree>
    <p:extLst>
      <p:ext uri="{BB962C8B-B14F-4D97-AF65-F5344CB8AC3E}">
        <p14:creationId xmlns:p14="http://schemas.microsoft.com/office/powerpoint/2010/main" val="160847109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785B31-81C0-4BC7-809E-561F7B36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7ACE6-998A-4440-89E9-0FC98166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515406-0584-4677-88AB-519F0FB90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창업 공간 입주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DCCD46-D4B2-4278-91C7-5130191D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4C60DD-E35B-4089-A57E-F79A9736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306B2D-7B4A-4B19-99D5-E88E5D96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ONE-LINE THESIS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6653D7-5DEB-4086-89FE-8752F746D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유니온잼은 플랫폼, 게임, 프로토타입을 함께 보유한 실행형 팀입니다.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7DE93-92C7-4B34-9ECE-99BD5C6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아이디어 설명이 아니라 실제 제작 흐름과 결과물을 동시에 검증합니다.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49FF04-3572-4576-8681-E604B784C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3067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D3ADE-5ADE-4FCD-9FA8-D526713E1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기술 플랫폼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CD65FF-0616-4F79-8173-5C1A5B3A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194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IDLE Forge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108D52-B993-4F4E-9B23-1E66AFA3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AI가 만든 콘텐츠를 게임 데이터 구조에 맞게 정리·검증·적용 준비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6FD4B9-8847-4053-88BD-F86F921A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81300"/>
            <a:ext cx="34290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2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1C37A9-9203-4BEA-9CF5-F83C2348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52750"/>
            <a:ext cx="3086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자체 적용 제품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354D9-BA00-4E2C-93AD-3B202C665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219450"/>
            <a:ext cx="3086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닌자 서바이벌 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1469E-E75B-4A72-8A11-C36B44262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676650"/>
            <a:ext cx="3086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서바이벌 액션으로 유입하고 성장·하우징·4X로 장기 운영하는 모바일 신작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FEBC2-4768-4F32-AB63-1E3476D9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81300"/>
            <a:ext cx="30670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E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BD3AD6-62BA-41AF-B79E-A03F23E12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52750"/>
            <a:ext cx="2724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검증 사례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9D294E-5BF9-4EC7-ACAD-C40E44C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2724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햄스터키우기 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6C9A09-F748-4DA5-9582-CDDC3351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76650"/>
            <a:ext cx="2724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버섯커 키우기류 성장형 게임 구조를 웹에서 빠르게 구현·검증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BDAC73-0E60-415A-8D92-CC2C1FA6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8763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C9367-8B75-48C0-B044-7EAE762A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19650"/>
            <a:ext cx="38100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1651C-B73C-459D-A1C9-01D2DB4C4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1015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B8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0B84A"/>
                </a:solidFill>
                <a:latin typeface="Apple SD Gothic Neo"/>
                <a:ea typeface="Apple SD Gothic Neo"/>
                <a:cs typeface="Apple SD Gothic Neo"/>
              </a:rPr>
              <a:t>입주 목적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FB780F-046D-45EC-B7FC-A4AECAA8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219700"/>
            <a:ext cx="30289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정기 협업 공간으로</a:t>
            </a:r>
          </a:p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개발 속도·검수 품질 향상</a:t>
            </a:r>
          </a:p>
        </p:txBody>
      </p:sp>
    </p:spTree>
    <p:extLst>
      <p:ext uri="{BB962C8B-B14F-4D97-AF65-F5344CB8AC3E}">
        <p14:creationId xmlns:p14="http://schemas.microsoft.com/office/powerpoint/2010/main" val="110645875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91E307-BF78-45B0-9EA5-FAB6A453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E0C8C-E1B5-422F-9265-52B72095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FC1243-9773-4A72-BE4F-C15DBF950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창업 공간 입주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4D82A-D79F-4A72-9105-B4638349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2988E2-9FD1-4CE9-9AD6-40F8B6680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9FED6-2C92-4A24-868F-0AA3027CA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SPACE 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DA6DB-1388-433C-ADD9-8CFFDDAE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제품이 문서 단계에서 빌드·검수 단계로 넘어가며 정기 협업 공간이 필요해졌습니다.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EA8BE4-A422-41AC-BD80-EA568828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현재 업무 방식은 초기 비용을 줄였지만, 반복 테스트와 공동 판단에는 한계가 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0378DE-2FBF-4A56-B381-ADEBB0CF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4095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EA423-469B-4911-9D7E-1C0C2169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현재 업무 방식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981D8-DB8E-455C-8CB4-7DE1B112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76625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재택근무</a:t>
            </a:r>
          </a:p>
          <a:p xmlns:a="http://schemas.openxmlformats.org/drawingml/2006/main">
            <a:pPr algn="l">
              <a:defRPr sz="19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관악구 스터디카페</a:t>
            </a:r>
          </a:p>
          <a:p xmlns:a="http://schemas.openxmlformats.org/drawingml/2006/main">
            <a:pPr algn="l">
              <a:defRPr sz="19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임시 회의 공간</a:t>
            </a:r>
          </a:p>
          <a:p xmlns:a="http://schemas.openxmlformats.org/drawingml/2006/main">
            <a:pPr algn="l">
              <a:defRPr sz="19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9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온라인 중심 싱크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5719EA-6731-4923-9C1B-F6326C92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304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초기 논의와 개별 작업에는 가능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DCE73-AC44-4BBC-B2CB-738184190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10025"/>
            <a:ext cx="1047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BC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1704F-24D3-4329-9D8C-52FDBB66A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029075"/>
            <a:ext cx="1047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3D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E3D5F"/>
                </a:solidFill>
                <a:latin typeface="Apple SD Gothic Neo"/>
                <a:ea typeface="Apple SD Gothic Neo"/>
                <a:cs typeface="Apple SD Gothic Neo"/>
              </a:rPr>
              <a:t>전환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A0199E-169C-4A13-A5E4-3F0E6F294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47950"/>
            <a:ext cx="40957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2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1271D9-0BD6-4E2A-9419-639CDFCA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914650"/>
            <a:ext cx="2714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입주 후 필요한 방식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2C20D4-6182-4AC6-AA96-065E2306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448050"/>
            <a:ext cx="32385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AI 생성 콘텐츠 공동 검수</a:t>
            </a:r>
          </a:p>
          <a:p xmlns:a="http://schemas.openxmlformats.org/drawingml/2006/main">
            <a:pPr algn="l">
              <a:defRPr sz="1875" b="0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모바일 빌드 테스트</a:t>
            </a:r>
          </a:p>
          <a:p xmlns:a="http://schemas.openxmlformats.org/drawingml/2006/main">
            <a:pPr algn="l">
              <a:defRPr sz="1875" b="0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기획·개발·아트 싱크</a:t>
            </a:r>
          </a:p>
          <a:p xmlns:a="http://schemas.openxmlformats.org/drawingml/2006/main">
            <a:pPr algn="l">
              <a:defRPr sz="1875" b="0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75" b="0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신규 인력 온보딩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D6CEC1-196E-4DC8-A14F-4569D5CC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3530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반복적인 공동 작업을 안정적으로 수행</a:t>
            </a:r>
          </a:p>
        </p:txBody>
      </p:sp>
    </p:spTree>
    <p:extLst>
      <p:ext uri="{BB962C8B-B14F-4D97-AF65-F5344CB8AC3E}">
        <p14:creationId xmlns:p14="http://schemas.microsoft.com/office/powerpoint/2010/main" val="7142316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16DFA6-9CCA-4103-8AC5-9706FA33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E4832-2592-418D-90DE-FFF7B4734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F0FBE3-BCF2-4A1E-B475-5003A62C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창업 공간 입주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28B986-1DFC-4F6F-B4B6-9B6CB932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471776-F7AC-42E7-BDBB-EA9C3DD07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B75E50-133A-4237-BD3C-A146EAF1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PLATFORM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F9D56F-DAB4-46A1-A815-8B6562E9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IDLE Forge는 반복 콘텐츠 제작을 생성, 검증, 적용 준비까지 이어지는 흐름으로 압축합니다.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6167D-D09B-4BDC-B104-47FC6C462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AI 결과물을 바로 투입하는 것이 아니라 사람이 판단할 수 있는 검수 구조를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4195B4-CEC5-4B86-A8A9-56D26C3C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9400"/>
            <a:ext cx="1752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FDBA4-CF4D-4C88-A7BC-77FAFED2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52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2E960-3D34-4EFD-906C-A769DC2A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콘텐츠 기획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E77A6C-C96C-4339-9FE6-2815DCE3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485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캐릭터, 적, 스킬, 장비, 보상 초안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F5F42-827E-4D28-8C5B-9B63EABE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810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E3D6C3-ED5A-43F7-B778-1D122997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19400"/>
            <a:ext cx="1752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969FFD-ED5C-4614-9FC3-0C87BFE08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952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BE559-75E6-4745-80EF-3A92B668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38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데이터 정리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052DF9-E18A-48BD-8F9F-7C725DA0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600450"/>
            <a:ext cx="1485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게임 데이터 구조에 맞게 변환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22BF61-241B-430D-B1B8-F48214F1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10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BA1D86-A96D-4175-A136-94188E8C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19400"/>
            <a:ext cx="1752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E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511490-AD54-43BE-A44C-F0BB1B23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52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1B0860-DF9F-4603-B982-809776DE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38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검수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2A5791-2B95-4B27-9A40-6F55C5B7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00450"/>
            <a:ext cx="1485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밸런스, 중복, 성장 곡선 검토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90F4C3-764E-4FCD-A442-34729F28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10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D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09938-58FB-4670-B8D4-29528257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819400"/>
            <a:ext cx="1752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12E26-03EE-44D5-85B8-302C3127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52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385A63-524E-4471-8D51-63A5BDA38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238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빌드 적용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B8A202-3770-4CCC-8AA0-2D7E40ECA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00450"/>
            <a:ext cx="1485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Unity 클라이언트와 서버 데이터 적용 준비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7C37E5-8A4E-4F43-B405-01A3DD4C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100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62CF6-A8C4-4690-AF30-D0C35FB8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19400"/>
            <a:ext cx="175260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FE3787-EA35-4127-B955-3F03AEA4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52750"/>
            <a:ext cx="38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0BB423-B3D6-4C71-9EC8-B04EF9EF0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238500"/>
            <a:ext cx="1485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운영 준비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F7619BC-B3B0-4EAC-8606-4E4FC0D4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00450"/>
            <a:ext cx="14859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업데이트 단위 콘텐츠 패키지 구성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DE2817-D52D-4F7D-A419-5698052A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53050"/>
            <a:ext cx="838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0278F0-71E9-4943-9773-4B2662350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514975"/>
            <a:ext cx="781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핵심 차별성: AI를 활용한다는 일반론이 아니라, 실제 게임 데이터와 운영 준비에 연결되는 제작 프로세스</a:t>
            </a:r>
          </a:p>
        </p:txBody>
      </p:sp>
    </p:spTree>
    <p:extLst>
      <p:ext uri="{BB962C8B-B14F-4D97-AF65-F5344CB8AC3E}">
        <p14:creationId xmlns:p14="http://schemas.microsoft.com/office/powerpoint/2010/main" val="6448536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D1E6FF-6D14-4751-AE9A-255E5ED9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E6FDE-F635-470B-9945-CA32048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66F4A-E91E-4E58-8A78-B073082AB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창업 공간 입주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A8070E-54FB-45CC-9AC0-F23CDFF6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7A896-BDA7-408E-B456-13F44FB14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7BC938-E5C0-45EC-901F-7395D7C3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APPLIED GAME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0E4B8A-5208-4239-900F-10087BDC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닌자 서바이벌 2는 쉬운 유입에서 장기 경쟁으로 확장되는 복합 장르 게임입니다.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43225-BBD9-4915-8299-5E907392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서바이벌 액션으로 시작해 성장·하우징, 4X 전략 요소로 LTV를 키우는 구조입니다.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CF4D1-C3FB-448D-91A5-9B0DCA3B5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9051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2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7885E-92CF-4B53-8DF4-8DC96B879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CC39B8-B963-46D7-A5FD-D0C324D0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78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1단계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6EF92-8DCA-4177-8123-6B582E4A9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서바이벌 액션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C15596-ECBE-455C-97B9-A94C828F5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338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몰려오는 적 처치</a:t>
            </a:r>
          </a:p>
          <a:p xmlns:a="http://schemas.openxmlformats.org/drawingml/2006/main">
            <a:pPr algn="l">
              <a:def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짧고 직관적인 전투</a:t>
            </a:r>
          </a:p>
          <a:p xmlns:a="http://schemas.openxmlformats.org/drawingml/2006/main">
            <a:pPr algn="l">
              <a:def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캐주얼 유저 유입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9602D2-BC96-4C21-9447-AD0C2846E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9052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1478FA-C605-4242-A32A-47F98098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62250"/>
            <a:ext cx="29051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E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E7E9E-E273-492B-9C6C-7ED3243C8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099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20C539-6D60-4855-8E66-5BDF0254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028950"/>
            <a:ext cx="78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2단계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C27B4A-177E-42A0-858A-7958B887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54330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성장·하우징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18CF4E-6124-49DB-9643-3C2A6EA3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338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전투 보상으로 성장</a:t>
            </a:r>
          </a:p>
          <a:p xmlns:a="http://schemas.openxmlformats.org/drawingml/2006/main">
            <a:pPr algn="l">
              <a:def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영지 발전과 꾸미기</a:t>
            </a:r>
          </a:p>
          <a:p xmlns:a="http://schemas.openxmlformats.org/drawingml/2006/main">
            <a:pPr algn="l">
              <a:def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재방문 동기 강화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0E51DB-D3AB-424E-8F2A-4875DC0B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905250"/>
            <a:ext cx="6286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BF385C-FB97-4E43-9411-03CA8143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62250"/>
            <a:ext cx="29051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BC4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52CB8E-5547-4C57-9475-84C1C281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09900"/>
            <a:ext cx="781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9251EE-023D-44A2-B964-BCF2C91B6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78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3단계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544BD1-ADE8-4FFD-B8BE-91ABF3CD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43300"/>
            <a:ext cx="23336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4X 전략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12F349-0D6E-434F-89D5-31AA5C43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33850"/>
            <a:ext cx="238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연맹 가입과 영토 경쟁</a:t>
            </a:r>
          </a:p>
          <a:p xmlns:a="http://schemas.openxmlformats.org/drawingml/2006/main">
            <a:pPr algn="l">
              <a:def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시즌 랭킹과 협동</a:t>
            </a:r>
          </a:p>
          <a:p xmlns:a="http://schemas.openxmlformats.org/drawingml/2006/main">
            <a:pPr algn="l">
              <a:def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장기 LTV 확대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4C2035-7828-4E2E-8060-DA516E46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007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E3D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0E3D5F"/>
                </a:solidFill>
                <a:latin typeface="Apple SD Gothic Neo"/>
                <a:ea typeface="Apple SD Gothic Neo"/>
                <a:cs typeface="Apple SD Gothic Neo"/>
              </a:rPr>
              <a:t>Survival(유입) → Housing(체류) → 4X(결제·LTV)</a:t>
            </a:r>
          </a:p>
        </p:txBody>
      </p:sp>
    </p:spTree>
    <p:extLst>
      <p:ext uri="{BB962C8B-B14F-4D97-AF65-F5344CB8AC3E}">
        <p14:creationId xmlns:p14="http://schemas.microsoft.com/office/powerpoint/2010/main" val="104428067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6FD4A8-1E3E-41C5-BA98-3DAEA8BB8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38034-4E50-4188-BB80-E5B42DF80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94048-8797-45F8-8EA6-88BF5E4B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창업 공간 입주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33B92-8501-4100-B418-9CDC6F96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03F60-6A11-480C-82FD-71B5393F0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C8AE2-4DAC-497E-89B3-DBA445B4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PROTOTYPE PROOF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C0751-D85C-44E9-90FC-97377A11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햄스터키우기 웹 프로토타입은 제작 흐름이 실제 플레이 화면으로 전환됨을 보여줍니다.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86CF7-8F1C-4A3D-B0F7-2FDDF1E1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버섯커 키우기류 성장형 게임을 모티브로 한 웹 버전입니다.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0128C1-E0FC-4CA5-AF0E-E2814BD8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6572250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e817ed79714f31"/>
          <a:stretch xmlns:a="http://schemas.openxmlformats.org/drawingml/2006/main"/>
        </p:blipFill>
        <p:spPr>
          <a:xfrm xmlns:a="http://schemas.openxmlformats.org/drawingml/2006/main">
            <a:off x="900642" y="2724150"/>
            <a:ext cx="6028267" cy="33909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2CD49-52A7-4505-BFEB-C16973BC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71750"/>
            <a:ext cx="347662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81BEE-2385-48DB-ABCB-E64639E4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38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검증된 항목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37C935-3502-41B8-BC3A-5AF37BDF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909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화면 구성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4AFC2-4447-4E62-B13E-B83CF040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9090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전투, 성장 메뉴, 장비, 퀘스트, 업적, 보상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A07CE-AD8C-421A-A9A9-8C438C36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767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게임 구조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9EC611-B5E8-4623-8760-6DD0C18B1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07670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캐릭터 성장, 장비 슬롯, 스테이지 진행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2AA9A-6DA7-4466-98EF-FBC8E822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7625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기술 의미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4786E-44BE-4548-A353-75CBF576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76250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웹 런타임에서 빠르게 플레이 가능한 화면 검증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24934-7461-4B3F-BC79-F58E1BEE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448300"/>
            <a:ext cx="1047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사업 의미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4F4A11-C92D-4EAF-A267-046AB78E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48300"/>
            <a:ext cx="19526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6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모바일 정식 개발 전 낮은 비용의 구조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F14AD3-494D-4073-A5AD-375664F10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03885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145C87"/>
                </a:solidFill>
                <a:latin typeface="Aptos"/>
                <a:ea typeface="Aptos"/>
                <a:cs typeface="Aptos"/>
              </a:rPr>
              <a:t>https://phaser-web-production.up.railway.app/</a:t>
            </a:r>
          </a:p>
        </p:txBody>
      </p:sp>
    </p:spTree>
    <p:extLst>
      <p:ext uri="{BB962C8B-B14F-4D97-AF65-F5344CB8AC3E}">
        <p14:creationId xmlns:p14="http://schemas.microsoft.com/office/powerpoint/2010/main" val="7129129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283B65-D299-4F33-87D8-CE17EC86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F90724-79DE-4C18-8C86-EA2282D5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19C20-4968-4DA5-9361-6D7A6EC5A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창업 공간 입주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D351AD-F92B-4DAB-B213-B115BC37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162817-6C4D-48F8-A5AF-31660F3E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9A705-9613-4EE4-A381-7C74EA06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MARKET 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3F81F-6665-4FCF-B829-B8BC1749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초기 시장은 서바이벌 액션으로 진입하고, 장기적으로 4X형 운영과 B2B 플랫폼으로 확장합니다.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562F6-6BCF-457A-8283-147D4541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자체 게임 출시 데이터가 외부 게임사 공급의 근거가 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85A41-7321-4C98-BFA2-84883784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76022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2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DF05D-14DC-4F9A-9C8F-29D9A7BA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15697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목표 유저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5EF6E-20B5-4913-ACA2-B2F0B498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2724150"/>
            <a:ext cx="264033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2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907AF-97BF-4E96-B892-EC64E6C0A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70" y="2828925"/>
            <a:ext cx="244983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유입 방식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648B17-64CC-4DBE-BBA5-BD9E3192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2415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2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95D7DB-031C-4D2D-B761-29A6784AB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28925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장기 유지 방식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E45AA-C269-4578-9E1F-F6E94DD80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76022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CC062E-8EBA-4CF1-8756-DB29AF87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19475"/>
            <a:ext cx="15697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캐주얼 유저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C7DA33-C57A-4A54-916B-5E076D81F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3314700"/>
            <a:ext cx="264033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02BF40-A259-41D2-9095-443FA7CA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70" y="3419475"/>
            <a:ext cx="244983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짧은 서바이벌 전투, 광고 보상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AD0FA8-45AB-4107-AAC5-BFC98806F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31470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2064BC-742F-418B-91D6-D24E70F9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19475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캐릭터 성장, 장비 수집, 일일 미션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7B8949-7122-4B10-8C70-65A0219C5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76022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06BB9F-7452-4FD3-A458-02BF3E9B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0025"/>
            <a:ext cx="15697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성장형 게임 유저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1A4FF0-CA19-434A-A38C-E331401B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3905250"/>
            <a:ext cx="264033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335DC6-34D6-4A4F-8860-732CB6BA6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70" y="4010025"/>
            <a:ext cx="244983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반복 성장, 수집, 강화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D2AE05-68C8-47BD-9367-3E610921E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90525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198F153-719F-475F-94BE-2072AF989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10025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하우징/영지 발전, 시즌 콘텐츠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D26FBF-71A0-4D43-B65D-975C0C03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76022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70B793-4FE8-4D7D-9BCF-468B27F3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00575"/>
            <a:ext cx="156972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코어 전략 유저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703106-754C-4A13-8E42-115D58D9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6020" y="4495800"/>
            <a:ext cx="264033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5FC925-373F-44BD-A867-7EF6A0A8D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1270" y="4600575"/>
            <a:ext cx="244983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연맹 가입, 영토 경쟁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CAE067-CE2E-458C-A994-A42236E0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495800"/>
            <a:ext cx="29337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A21A7B-8722-4B7F-A716-04CED809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600575"/>
            <a:ext cx="2743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4X 점령전, 협동·경쟁, 고관여 결제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E4BE51-625F-4F49-A6FD-08A1BDE1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24150"/>
            <a:ext cx="23812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691116-2A51-4770-9193-8043FA94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09900"/>
            <a:ext cx="1428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B8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0B84A"/>
                </a:solidFill>
                <a:latin typeface="Apple SD Gothic Neo"/>
                <a:ea typeface="Apple SD Gothic Neo"/>
                <a:cs typeface="Apple SD Gothic Neo"/>
              </a:rPr>
              <a:t>사업화 흐름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C01BB7A-0F40-4DA6-B213-151ADC06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476625"/>
            <a:ext cx="18097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1. 자체 게임 출시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2. 운영 데이터 확보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3. 외부 게임사 PoC</a:t>
            </a:r>
          </a:p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4. B2B 공급 모델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330B56-EE2A-4169-A91D-F40B95CE4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7477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3D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E3D5F"/>
                </a:solidFill>
                <a:latin typeface="Apple SD Gothic Neo"/>
                <a:ea typeface="Apple SD Gothic Neo"/>
                <a:cs typeface="Apple SD Gothic Neo"/>
              </a:rPr>
              <a:t>IDLE Forge는 자체 게임에서 검증된 뒤 공급 모델로 확장됩니다.</a:t>
            </a:r>
          </a:p>
        </p:txBody>
      </p:sp>
    </p:spTree>
    <p:extLst>
      <p:ext uri="{BB962C8B-B14F-4D97-AF65-F5344CB8AC3E}">
        <p14:creationId xmlns:p14="http://schemas.microsoft.com/office/powerpoint/2010/main" val="11615822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76AB04-6A1B-49BB-A46C-8E4FAACE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206B0D-3C4C-4179-889C-48C313CB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76C71-1A6D-4791-AD89-36C2D4AD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창업 공간 입주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DABB26-0F76-474E-955B-09A40FD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1EB6D3-C29E-4982-9E19-F1EDB0B4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E8DC4B-D5E9-410B-A488-DB4B1A67A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TEAM CAPACITY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FA0376-69FE-40BF-BDFB-B00191D0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핵심 역할이 플랫폼 개발, 모바일 클라이언트, 콘텐츠 검수까지 이어지는 빌드 체계를 구성합니다.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8E93DD-054F-4F12-A9FB-F27C8E340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서울대학교 출신 CTO와 유니티 클라이언트 개발자를 중심으로 실제 구현 역량을 확보합니다.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0523F-6906-470C-AA52-7A206504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333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0AD30-86B9-4724-A1E5-E47D5035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051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대표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730C74-A5D7-42AD-9390-B2A16F5A6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7665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사업화 전략</a:t>
            </a:r>
          </a:p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게임 기획</a:t>
            </a:r>
          </a:p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운영 지표 관리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E9CFF1-4560-4DC0-B4B6-4A022CC92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38450"/>
            <a:ext cx="2333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2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DD22BD-01E7-40D6-897A-026E38A4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051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CTO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3E872-382B-44A1-B0E8-5AC75E6B1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67665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IDLE Forge 아키텍처</a:t>
            </a:r>
          </a:p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게임 서버·엔진 개발</a:t>
            </a:r>
          </a:p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기술 검증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7404C5-ED14-48B2-BFA2-E14304617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838450"/>
            <a:ext cx="2333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9596C1-A4D6-41C7-B796-84821975A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051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유니티 개발자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021FF-0EBC-4A42-A59F-7BE843FC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7665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모바일 클라이언트</a:t>
            </a:r>
          </a:p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전투·성장 UI</a:t>
            </a:r>
          </a:p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빌드 테스트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F654A4-B6F5-4990-921E-5479B691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2333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85D9E-4250-405B-A1DD-D9FE8006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105150"/>
            <a:ext cx="1952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아트/콘텐츠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12B243-4F6F-4327-8A8B-07D54D5E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676650"/>
            <a:ext cx="1952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AI 생성 결과물 검수</a:t>
            </a:r>
          </a:p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게임 리소스 제작</a:t>
            </a:r>
          </a:p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콘텐츠 품질 관리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F49B9-DDF2-4B7D-9537-89EFDAFD6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543550"/>
            <a:ext cx="8115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BC4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AA1FF9-1A51-4423-B47A-F719F666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695950"/>
            <a:ext cx="7429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E3D5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E3D5F"/>
                </a:solidFill>
                <a:latin typeface="Apple SD Gothic Neo"/>
                <a:ea typeface="Apple SD Gothic Neo"/>
                <a:cs typeface="Apple SD Gothic Neo"/>
              </a:rPr>
              <a:t>입주 후 정기 협업을 통해 기획-개발-검수-테스트가 한 주기 안에서 반복됩니다.</a:t>
            </a:r>
          </a:p>
        </p:txBody>
      </p:sp>
    </p:spTree>
    <p:extLst>
      <p:ext uri="{BB962C8B-B14F-4D97-AF65-F5344CB8AC3E}">
        <p14:creationId xmlns:p14="http://schemas.microsoft.com/office/powerpoint/2010/main" val="209056387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0FC7B7-939E-4A10-92F0-4A2868F5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883A4A-9553-4CAD-8EAB-2323AC4C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C7229-C4A6-4801-B2E9-69FF5216D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창업 공간 입주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563EE-C620-4689-B484-C22F539B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E0628-7A60-4618-BBC2-5809D75C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4B40C-778C-4441-9145-8C04CA27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OFFICE OPERATION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00B2FE-677C-4995-8F7F-FBDA4B31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독립형 사무실은 반복 협업을 정례화하는 실행 공간으로 사용됩니다.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01A44-AFD3-488A-9D66-9E27816F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공간 활용도는 회의실 사용이 아니라 제품 개발 리듬의 고정화로 설명됩니다.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8E4A81-E335-4B80-8685-1EAA6BE4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0510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BC4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3EAD39-267C-4C19-970F-C2F39959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주기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BC051E-5FB6-458A-BFEB-7A782CB8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705100"/>
            <a:ext cx="3967163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BC4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7A0E73-9025-4800-BCAD-5A83D158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2809875"/>
            <a:ext cx="377666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협업 내용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80DC3-FDF2-4413-8C03-C99164F2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2705100"/>
            <a:ext cx="283368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BC4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9B6F29-10CB-4BB8-BAEA-695F068B2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613" y="2809875"/>
            <a:ext cx="26431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공간의 역할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A1154E-5BC1-44C4-9062-DC8EF850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7CCFD-6EB9-4BCF-B721-FF32249A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주 1회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8770B1-A330-4169-B97A-4DD5142F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76600"/>
            <a:ext cx="3967163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D3F150-133D-4236-8F7F-D38F11FA7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381375"/>
            <a:ext cx="377666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제품 개발 회의, 우선순위 결정, 일정 점검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D92B17-2661-48EB-B32F-62A2BE6E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3276600"/>
            <a:ext cx="283368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1E2B54-96C7-4C01-98F5-5903F723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613" y="3381375"/>
            <a:ext cx="26431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공동 의사결정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A5707A-171F-4AA1-8DAC-BDBBEEB9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1D5522-8400-492A-BFA6-2E749E88B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52875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주 1~2회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EBD2A6-44C2-42BD-B7D2-7DD624BB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848100"/>
            <a:ext cx="3967163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5A4887-7424-4894-BA9B-166FDABE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952875"/>
            <a:ext cx="377666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AI 생성 콘텐츠 검수, 밸런스 리뷰, 아트 방향성 검토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A38396-28C7-41AB-8DD2-1C5BED783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3848100"/>
            <a:ext cx="283368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009C48-4403-4D0A-84EF-D888F36E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613" y="3952875"/>
            <a:ext cx="26431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같은 결과물을 보며 검수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096631-A407-4CBC-B448-373900D9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960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17D0E2-B3DD-45F2-AD78-718856B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수시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E2F6E5-82B4-4AA4-8510-C0CDAB87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19600"/>
            <a:ext cx="3967163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0B1564-60CE-48B2-90D7-50B291B2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24375"/>
            <a:ext cx="377666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모바일 빌드 테스트, 서버 적용 확인, 버그 재현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835ABF-F105-4883-AAAC-DED703CC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4419600"/>
            <a:ext cx="283368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4D1F68-DD38-4C2F-9040-BC094C52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613" y="4524375"/>
            <a:ext cx="26431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기기 테스트와 즉시 피드백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3009D98-FE7A-4312-93ED-A86AEC981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2954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0E955C-7ECE-4E67-95DE-5C335D7F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95875"/>
            <a:ext cx="1104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월 1회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4B703EC-CB87-46AC-8431-D289A542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91100"/>
            <a:ext cx="3967163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501B29-FA34-4763-A42E-DBEEBFE7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95875"/>
            <a:ext cx="3776663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프로그램 참여 결과 및 사업 지표 정리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3B7513-226A-4388-9506-2DB3977F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8363" y="4991100"/>
            <a:ext cx="2833688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E38DCB-C1A3-404A-A4EE-CD6F0C4DD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3613" y="5095875"/>
            <a:ext cx="2643188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지원 프로그램과 사업화 연결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28BF8C-0C51-4A13-9C14-72B1C180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05100"/>
            <a:ext cx="1714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CD70CA-56A2-4DD8-894A-7E41D95A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099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0B8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F0B84A"/>
                </a:solidFill>
                <a:latin typeface="Apple SD Gothic Neo"/>
                <a:ea typeface="Apple SD Gothic Neo"/>
                <a:cs typeface="Apple SD Gothic Neo"/>
              </a:rPr>
              <a:t>공간 전환 효과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3730DD-45BD-4C6B-8EB7-8A0A73BB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24250"/>
            <a:ext cx="1314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재택·스터디카페 중심 업무를</a:t>
            </a:r>
          </a:p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관악구 내 정기 협업 공간으로 전환</a:t>
            </a:r>
          </a:p>
        </p:txBody>
      </p:sp>
    </p:spTree>
    <p:extLst>
      <p:ext uri="{BB962C8B-B14F-4D97-AF65-F5344CB8AC3E}">
        <p14:creationId xmlns:p14="http://schemas.microsoft.com/office/powerpoint/2010/main" val="15760670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C431C2-278C-420D-B111-0003FE3D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B2D351-059D-4275-8E86-7D98480D7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854C68-9A5B-4F8B-A004-501D40A5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창업 공간 입주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96753-0375-401B-A73D-BC2FE5B5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82128C-C6D8-432B-B21D-1BB8DD18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9E8EFE-60D0-4D37-B74D-53171A04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12-MONTH PLAN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7B7F18-8F37-4B55-B462-66C9E3B2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입주 후 12개월은 협업 환경 구축에서 베타 빌드, 운영 데이터, B2B 준비로 이어집니다.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AF876B-0550-4FD6-9C75-11B68D5C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공간 활용은 월별 산출물과 연결해 관리합니다.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FFDFA3-D122-4ED8-9483-0546DF9D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81400"/>
            <a:ext cx="914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DC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5803CD-DD86-4BD4-A232-DE51FAE5E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57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38100">
            <a:solidFill>
              <a:srgbClr val="F7F3E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BC496F-C07B-47A2-BAD7-8B6F984B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00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2026.07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FEA15D-7267-4337-96B0-A91FA3C4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1885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2B03F9-C143-4CE3-80AF-A410B178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입주 및 협업 환경 구축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F8C2D5-465B-4006-91D7-C61B75FB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정기 회의, 콘텐츠 검수, 테스트 환경 마련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942D29-2B06-4C02-9DB5-871470C7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57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38100">
            <a:solidFill>
              <a:srgbClr val="F7F3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B7FDF-7028-4E33-9A9B-E41609B08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00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2026.08~09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7B7738-76EB-4359-8F52-F6F12334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81500"/>
            <a:ext cx="1885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F773DE-B9D5-491F-B898-4041E550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5295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IDLE Forge 핵심 기능 고도화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8271B0-4F09-4FDA-B525-58B732BA7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1015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콘텐츠 생성·검증 흐름 안정화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69FD9-A918-4614-A8E8-F8C1D0C1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457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38100">
            <a:solidFill>
              <a:srgbClr val="F7F3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E2FF4-0174-436D-B178-C108F141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00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2026.10~12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49F06E-26CA-4658-892A-6A3A5A92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81500"/>
            <a:ext cx="1885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F2E8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84D3EA-2C3D-45FF-B65D-5B300040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55295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닌자 서바이벌 2 베타/데모 준비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81D55-91C6-4445-A0BD-A2C777AE5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501015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베타 빌드, 데모 자료, 사용자 테스트 준비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65040F-DA76-411C-904B-8B1F812DB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457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3"/>
          </a:solidFill>
          <a:ln xmlns:a="http://schemas.openxmlformats.org/drawingml/2006/main" w="38100">
            <a:solidFill>
              <a:srgbClr val="F7F3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760F62-A837-4B3A-A9CC-635F809B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000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2027.01~03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0D1F4-2472-4B93-8DB8-55AD12877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381500"/>
            <a:ext cx="1885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F75EAE-7DD9-433F-9DFA-FF656C89C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55295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운영 데이터 분석 및 개선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212A1F-318D-486F-BC15-B69610BF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01015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리텐션, 콘텐츠 생산성, 빌드 안정성 개선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D29DDE-DB00-4683-92E8-EB51E6CA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5757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3"/>
          </a:solidFill>
          <a:ln xmlns:a="http://schemas.openxmlformats.org/drawingml/2006/main" w="38100">
            <a:solidFill>
              <a:srgbClr val="F7F3E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3F6382-2A6D-44FB-9776-2F4460F1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0005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2027.04~06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2ABC07-0FF0-4C93-BE46-758FE867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81500"/>
            <a:ext cx="188595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79E883-F2E0-4F67-978B-1E0D7332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552950"/>
            <a:ext cx="1581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B2B 공급 및 후속 투자 준비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1D9F7D-F80D-414F-A103-DAAB8DCC2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5010150"/>
            <a:ext cx="15811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13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SDK/문서 초안, PoC 후보 발굴, IR 보완</a:t>
            </a:r>
          </a:p>
        </p:txBody>
      </p:sp>
    </p:spTree>
    <p:extLst>
      <p:ext uri="{BB962C8B-B14F-4D97-AF65-F5344CB8AC3E}">
        <p14:creationId xmlns:p14="http://schemas.microsoft.com/office/powerpoint/2010/main" val="6120719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1A4302-4A4A-477D-A21E-D85AFF21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A40FC5-8AA7-4B9D-9F92-B5FD89DC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191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5C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832D1C-C6B9-4439-8135-174E4343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관악S밸리 창업 공간 입주 발표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7A3794-964C-4F07-8273-5F4620096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UNIONJAM Inc.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D5B84D-E912-42C2-848E-4A8BE2E2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960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D6674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66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A1CEF7-2FD2-4E51-B3B0-6B905E42A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1905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45C87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5C87"/>
                </a:solidFill>
                <a:latin typeface="Aptos"/>
                <a:ea typeface="Aptos"/>
                <a:cs typeface="Aptos"/>
              </a:rPr>
              <a:t>EVALUATION FIT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22CD2-6319-4470-A507-A29DF09E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0125"/>
            <a:ext cx="9906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850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유니온잼의 입주 계획은 조직역량, 기술경쟁력, 시장성, 성장성, 공간활용도를 직접 대응합니다.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ADACBC-6DDE-44D5-A8C2-03E4DD0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336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독립형 사무실은 개발·검수·테스트 속도를 높이는 실질적 지원입니다.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47A698-D44C-4B44-BD15-1C568DD6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21456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2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FB851-7860-4B12-A729-4DEC598B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52725"/>
            <a:ext cx="2024063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평가항목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DC6572-1190-4161-9342-2501B5334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2647950"/>
            <a:ext cx="664368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2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7382D-4463-4122-A43C-69DF8AF5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2752725"/>
            <a:ext cx="6453188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162032"/>
                </a:solidFill>
                <a:latin typeface="Apple SD Gothic Neo"/>
                <a:ea typeface="Apple SD Gothic Neo"/>
                <a:cs typeface="Apple SD Gothic Neo"/>
              </a:rPr>
              <a:t>대응 논리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0877FB-60F7-416F-A2D7-838BEAD2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71825"/>
            <a:ext cx="221456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FDAD09-F7EB-4D3A-8AFE-F0CBBA2E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024063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조직역량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DF2793-5C3C-48CD-A8E9-A87716D8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3171825"/>
            <a:ext cx="664368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4E13A6-92C4-4A15-BA4C-08D90F78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3276600"/>
            <a:ext cx="6453188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서울대학교 출신 CTO, 게임 운영 경험, 유니티 클라이언트 개발 역량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49F1CB-C58F-4E2A-8925-AF5AA62F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221456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3CE9F6-835B-45DB-BA5B-3B9075AC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00475"/>
            <a:ext cx="2024063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기술·서비스 경쟁력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275AB1-2644-4492-82AE-D39C4233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3695700"/>
            <a:ext cx="664368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0E812-0DB6-46FD-9DCB-E6F3122A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3800475"/>
            <a:ext cx="6453188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햄스터키우기 웹 프로토타입과 닌자 서바이벌 2로 실제 결과물 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A7A59D-6CF2-406C-AE19-D03C0482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221456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623D0-EFCC-46D0-8632-E4F1AEC0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24350"/>
            <a:ext cx="2024063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시장성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6DA485-5800-4C1E-9096-AC599BF5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4219575"/>
            <a:ext cx="664368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6B54DC-382E-4D9A-83BD-48E005B3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4324350"/>
            <a:ext cx="6453188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서바이벌 액션 진입 후 성장·하우징·4X 장기 운영 구조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B83CE6-5500-46E7-9C64-30DECF795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21456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14505B-4A90-4D65-B0E3-EC9274EB7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48225"/>
            <a:ext cx="2024063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사업성과 및 성장성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C0D270-DAA0-40A3-8441-491AA6764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4743450"/>
            <a:ext cx="664368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770063-EEE3-461B-ACFC-47EC3CA0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4848225"/>
            <a:ext cx="6453188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자체 게임 출시 데이터 확보 후 외부 게임사 대상 B2B 확장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26CB09-6181-4BE8-9AB2-127E48D03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67325"/>
            <a:ext cx="2214563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BD2BB1-F8CB-4405-B270-7068C7D7D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2024063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공간활용도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B6B9191-06DE-42FA-A650-FC30ACB9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0363" y="5267325"/>
            <a:ext cx="6643688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EE"/>
          </a:solidFill>
          <a:ln xmlns:a="http://schemas.openxmlformats.org/drawingml/2006/main" w="9525">
            <a:solidFill>
              <a:srgbClr val="D8CDC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F34F58-3065-4D66-B502-11FDD0761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5613" y="5372100"/>
            <a:ext cx="6453188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88" b="0">
                <a:solidFill>
                  <a:srgbClr val="5D6674"/>
                </a:solidFill>
                <a:latin typeface="Apple SD Gothic Neo"/>
                <a:ea typeface="Apple SD Gothic Neo"/>
                <a:cs typeface="Apple SD Gothic Neo"/>
              </a:rPr>
              <a:t>재택·스터디카페 중심 업무를 관악구 내 정기 협업 공간으로 전환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BEA46E-937F-4466-9CC2-EFAE1DD2F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647950"/>
            <a:ext cx="13906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2236"/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18EA7E-0DFA-426D-A7E3-562588091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52750"/>
            <a:ext cx="914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0B84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0B84A"/>
                </a:solidFill>
                <a:latin typeface="Apple SD Gothic Neo"/>
                <a:ea typeface="Apple SD Gothic Neo"/>
                <a:cs typeface="Apple SD Gothic Neo"/>
              </a:rPr>
              <a:t>신청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AA0DD0-9FFC-4560-82B2-76D7DDC0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33750"/>
            <a:ext cx="9906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관악S밸리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독립형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사무실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DB6CE4-A02A-4EFA-A797-165C67C5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5067300"/>
            <a:ext cx="10001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FDAE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CFDAE4"/>
                </a:solidFill>
                <a:latin typeface="Apple SD Gothic Neo"/>
                <a:ea typeface="Apple SD Gothic Neo"/>
                <a:cs typeface="Apple SD Gothic Neo"/>
              </a:rPr>
              <a:t>정기 협업 공간 확보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7DE29B-EE01-4007-814F-5C65143D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769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100" b="1">
                <a:solidFill>
                  <a:srgbClr val="145C87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9946836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2026-06-05T06:28:50.8370000Z</dcterms:created>
  <dcterms:modified xsi:type="dcterms:W3CDTF">2026-06-05T06:28:50.8370000Z</dcterms:modified>
</coreProperties>
</file>