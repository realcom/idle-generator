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charts/chart1.xml" ContentType="application/vnd.openxmlformats-officedocument.drawingml.chart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charts/chart4.xml" ContentType="application/vnd.openxmlformats-officedocument.drawingml.chart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단독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5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유닛 1개</c:v>
                  </c:pt>
                  <c:pt idx="1">
                    <c:v>맵 1개</c:v>
                  </c:pt>
                  <c:pt idx="2">
                    <c:v>스킬 1개</c:v>
                  </c:pt>
                  <c:pt idx="3">
                    <c:v>성장식 조정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120</c:v>
                </c:pt>
                <c:pt idx="1">
                  <c:v>90</c:v>
                </c:pt>
                <c:pt idx="2">
                  <c:v>60</c:v>
                </c:pt>
                <c:pt idx="3">
                  <c:v>180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Harness/Skill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212529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유닛 1개</c:v>
                  </c:pt>
                  <c:pt idx="1">
                    <c:v>맵 1개</c:v>
                  </c:pt>
                  <c:pt idx="2">
                    <c:v>스킬 1개</c:v>
                  </c:pt>
                  <c:pt idx="3">
                    <c:v>성장식 조정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5</c:v>
                </c:pt>
                <c:pt idx="1">
                  <c:v>5</c:v>
                </c:pt>
                <c:pt idx="2">
                  <c:v>3</c:v>
                </c:pt>
                <c:pt idx="3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212529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E9EC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소요 시간 (분)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E74C3C"/>
                </a:solidFill>
                <a:latin typeface="Arial"/>
              </a:defRPr>
            </a:pPr>
            <a:r>
              <a:rPr sz="1800" b="0" i="0" u="none" strike="noStrike">
                <a:solidFill>
                  <a:srgbClr val="E74C3C"/>
                </a:solidFill>
                <a:latin typeface="Arial"/>
              </a:rPr>
              <a:t>AI 단독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AI 단독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bubble3D val="0"/>
            <c:spPr>
              <a:solidFill>
                <a:srgbClr val="E8E8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1252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1252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오류 (~30%)</c:v>
                </c:pt>
                <c:pt idx="1">
                  <c:v>정상 (~70%)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30</c:v>
                </c:pt>
                <c:pt idx="1">
                  <c:v>70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27AE6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27AE60"/>
                </a:solidFill>
                <a:latin typeface="Arial"/>
              </a:rPr>
              <a:t>Harness / Skill</a:t>
            </a:r>
          </a:p>
        </c:rich>
      </c:tx>
      <c:layout/>
      <c:overlay val="0"/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Harness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</c:dPt>
          <c:dPt>
            <c:idx val="1"/>
            <c:bubble3D val="0"/>
            <c:spPr>
              <a:solidFill>
                <a:srgbClr val="27AE60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1252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212529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dLblPos val="ctr"/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오류 (&lt;1%)</c:v>
                </c:pt>
                <c:pt idx="1">
                  <c:v>정상 (&gt;99%)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1</c:v>
                </c:pt>
                <c:pt idx="1">
                  <c:v>99</c:v>
                </c:pt>
              </c:numCache>
            </c:numRef>
          </c:val>
        </c:ser>
        <c:firstSliceAng val="0"/>
      </c:pie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AI 단독 (선형 증가)</c:v>
                </c:pt>
              </c:strCache>
            </c:strRef>
          </c:tx>
          <c:spPr>
            <a:solidFill>
              <a:srgbClr val="E74C3C"/>
            </a:solidFill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게임 1</c:v>
                  </c:pt>
                  <c:pt idx="1">
                    <c:v>게임 2</c:v>
                  </c:pt>
                  <c:pt idx="2">
                    <c:v>게임 3</c:v>
                  </c:pt>
                  <c:pt idx="3">
                    <c:v>게임 4</c:v>
                  </c:pt>
                  <c:pt idx="4">
                    <c:v>게임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300</c:v>
                </c:pt>
                <c:pt idx="1">
                  <c:v>600</c:v>
                </c:pt>
                <c:pt idx="2">
                  <c:v>900</c:v>
                </c:pt>
                <c:pt idx="3">
                  <c:v>1200</c:v>
                </c:pt>
                <c:pt idx="4">
                  <c:v>1500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Harness/Skill (누적 감소)</c:v>
                </c:pt>
              </c:strCache>
            </c:strRef>
          </c:tx>
          <c:spPr>
            <a:solidFill>
              <a:srgbClr val="27AE60"/>
            </a:solidFill>
            <a:ln w="38100" cap="flat">
              <a:solidFill>
                <a:srgbClr val="27AE60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27AE60"/>
              </a:solidFill>
              <a:ln w="9525" cap="flat">
                <a:solidFill>
                  <a:srgbClr val="27AE60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Sheet1!$A$2:$A$6</c:f>
              <c:multiLvlStrCache>
                <c:ptCount val="5"/>
                <c:lvl>
                  <c:pt idx="0">
                    <c:v>게임 1</c:v>
                  </c:pt>
                  <c:pt idx="1">
                    <c:v>게임 2</c:v>
                  </c:pt>
                  <c:pt idx="2">
                    <c:v>게임 3</c:v>
                  </c:pt>
                  <c:pt idx="3">
                    <c:v>게임 4</c:v>
                  </c:pt>
                  <c:pt idx="4">
                    <c:v>게임 5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400</c:v>
                </c:pt>
                <c:pt idx="1">
                  <c:v>580</c:v>
                </c:pt>
                <c:pt idx="2">
                  <c:v>700</c:v>
                </c:pt>
                <c:pt idx="3">
                  <c:v>780</c:v>
                </c:pt>
                <c:pt idx="4">
                  <c:v>830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9ECE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b="0" i="0" u="none" strike="noStrike">
                    <a:solidFill>
                      <a:srgbClr val="000000"/>
                    </a:solidFill>
                    <a:latin typeface="Arial"/>
                  </a:rPr>
                  <a:t>누적 공수 (시간)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95057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chart" Target="/ppt/charts/chart3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914400"/>
            <a:ext cx="80467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왜 Harness/Skill인가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731520" y="2011680"/>
            <a:ext cx="80467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AAAA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단독 개발 vs Harness/Skill 이용 개발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731520" y="2651760"/>
            <a:ext cx="7315200" cy="36576"/>
          </a:xfrm>
          <a:prstGeom prst="rect">
            <a:avLst/>
          </a:prstGeom>
          <a:solidFill>
            <a:srgbClr val="444466"/>
          </a:solidFill>
          <a:ln w="12700">
            <a:solidFill>
              <a:srgbClr val="44446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83464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888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idle-game-generator 콘텐츠 제작 체계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3840480"/>
            <a:ext cx="2011680" cy="457200"/>
          </a:xfrm>
          <a:prstGeom prst="rect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AI 단독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926080" y="3840480"/>
            <a:ext cx="548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888899"/>
                </a:solidFill>
              </a:rPr>
              <a:t>vs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3657600" y="3840480"/>
            <a:ext cx="2377440" cy="457200"/>
          </a:xfrm>
          <a:prstGeom prst="rect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0" y="384048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Harness / Skill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모두가 AI를 쓴다 — 그런데 왜 여전히 힘든가?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393192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FFCCC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51560"/>
            <a:ext cx="3749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ChatGPT · Claude · Copilot · Gemini...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1463040"/>
            <a:ext cx="37490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95057"/>
                </a:solidFill>
              </a:rPr>
              <a:t>AI 도구는 넘쳐난다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2240280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12529"/>
                </a:solidFill>
              </a:rPr>
              <a:t>하지만 게임 콘텐츠 제작은 여전히 병목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" y="2743200"/>
            <a:ext cx="8412480" cy="502920"/>
          </a:xfrm>
          <a:prstGeom prst="rect">
            <a:avLst/>
          </a:prstGeom>
          <a:solidFill>
            <a:srgbClr val="FFF8F8"/>
          </a:solidFill>
          <a:ln w="12700">
            <a:solidFill>
              <a:srgbClr val="FFE0E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277977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①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60120" y="277977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유닛 만들어 달라고 했더니  →  엔진에서 필드 오류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3337560"/>
            <a:ext cx="8412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7413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②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337413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성장식 짜달라고 했더니     →  밸런스를 완전히 망침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8412480" cy="502920"/>
          </a:xfrm>
          <a:prstGeom prst="rect">
            <a:avLst/>
          </a:prstGeom>
          <a:solidFill>
            <a:srgbClr val="FFF8F8"/>
          </a:solidFill>
          <a:ln w="12700">
            <a:solidFill>
              <a:srgbClr val="FFE0E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02920" y="3968496"/>
            <a:ext cx="365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③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960120" y="3968496"/>
            <a:ext cx="7589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행동 로직 작성했더니       →  참조 오류로 빌드 실패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65760" y="4526280"/>
            <a:ext cx="8412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74C3C"/>
                </a:solidFill>
              </a:rPr>
              <a:t>AI는 강하다. 하지만 체계가 없다.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단독 vs Harness/Skill — 무엇이 다른가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560320" cy="384048"/>
          </a:xfrm>
          <a:prstGeom prst="rect">
            <a:avLst/>
          </a:prstGeom>
          <a:solidFill>
            <a:srgbClr val="212529"/>
          </a:solidFill>
          <a:ln w="12700">
            <a:solidFill>
              <a:srgbClr val="21252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822960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항목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926080" y="822960"/>
            <a:ext cx="2651760" cy="384048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26080" y="822960"/>
            <a:ext cx="26517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AI 단독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669280" y="822960"/>
            <a:ext cx="3200400" cy="38404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0" y="8229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Harness / Skill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1261872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2984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</a:rPr>
              <a:t>구조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926080" y="1261872"/>
            <a:ext cx="2651760" cy="530352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17520" y="12984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✗  자유형 텍스트/JSON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0" y="1261872"/>
            <a:ext cx="3200400" cy="530352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12984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6B3A"/>
                </a:solidFill>
              </a:rPr>
              <a:t>✓  스키마 준수 YAML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274320" y="1856232"/>
            <a:ext cx="2560320" cy="53035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189280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</a:rPr>
              <a:t>검증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926080" y="1856232"/>
            <a:ext cx="2651760" cy="530352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017520" y="189280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✗  없음 (엔진 실행 후 발견)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0" y="1856232"/>
            <a:ext cx="3200400" cy="530352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60720" y="189280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6B3A"/>
                </a:solidFill>
              </a:rPr>
              <a:t>✓  5개 자동 게이트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74320" y="2450592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248716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</a:rPr>
              <a:t>성장식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2926080" y="2450592"/>
            <a:ext cx="2651760" cy="530352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17520" y="248716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✗  숫자 배열 직접 작성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669280" y="2450592"/>
            <a:ext cx="3200400" cy="530352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248716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6B3A"/>
                </a:solidFill>
              </a:rPr>
              <a:t>✓  수식 기반 자동 계산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74320" y="3044952"/>
            <a:ext cx="2560320" cy="53035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0815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</a:rPr>
              <a:t>행동 로직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2926080" y="3044952"/>
            <a:ext cx="2651760" cy="530352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017520" y="308152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✗  임의 로직 (엔진 불보장)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5669280" y="3044952"/>
            <a:ext cx="3200400" cy="530352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60720" y="308152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6B3A"/>
                </a:solidFill>
              </a:rPr>
              <a:t>✓  action-vocabulary 기반 보장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274320" y="3639312"/>
            <a:ext cx="25603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65760" y="367588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</a:rPr>
              <a:t>재사용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2926080" y="3639312"/>
            <a:ext cx="2651760" cy="530352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017520" y="367588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✗  매번 새로 요청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5669280" y="3639312"/>
            <a:ext cx="3200400" cy="530352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760720" y="367588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6B3A"/>
                </a:solidFill>
              </a:rPr>
              <a:t>✓  engine-contract 공유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274320" y="4233672"/>
            <a:ext cx="2560320" cy="530352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65760" y="42702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</a:rPr>
              <a:t>협업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2926080" y="4233672"/>
            <a:ext cx="2651760" cy="530352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017520" y="4270248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✗  1개 AI가 전부 담당</a:t>
            </a:r>
            <a:endParaRPr lang="en-US" sz="1050" dirty="0"/>
          </a:p>
        </p:txBody>
      </p:sp>
      <p:sp>
        <p:nvSpPr>
          <p:cNvPr id="44" name="Shape 42"/>
          <p:cNvSpPr/>
          <p:nvPr/>
        </p:nvSpPr>
        <p:spPr>
          <a:xfrm>
            <a:off x="5669280" y="4233672"/>
            <a:ext cx="3200400" cy="530352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760720" y="4270248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B6B3A"/>
                </a:solidFill>
              </a:rPr>
              <a:t>✓  5개 전문 에이전트 분업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3계층 구조가 차이를 만든다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C757D"/>
                </a:solidFill>
              </a:rPr>
              <a:t>AI 단독은 이 구분이 없다. 그래서 매번 결과물이 제각각이다.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914400" y="1280160"/>
            <a:ext cx="5943600" cy="1051560"/>
          </a:xfrm>
          <a:prstGeom prst="rect">
            <a:avLst/>
          </a:prstGeom>
          <a:solidFill>
            <a:srgbClr val="27AE60">
              <a:alpha val="12000"/>
            </a:srgbClr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14400" y="1280160"/>
            <a:ext cx="201168" cy="105156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207008" y="135331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engine-contract  (불변)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07008" y="173736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스키마 · 스탯 · 참조그래프 · 행동어휘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040880" y="1371600"/>
            <a:ext cx="1828800" cy="868680"/>
          </a:xfrm>
          <a:prstGeom prst="rect">
            <a:avLst/>
          </a:prstGeom>
          <a:solidFill>
            <a:srgbClr val="27AE60">
              <a:alpha val="8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086600" y="141732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모든 게임 공통 규칙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엔진이 이해하는 언어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0" y="2331720"/>
            <a:ext cx="640080" cy="182880"/>
          </a:xfrm>
          <a:prstGeom prst="rect">
            <a:avLst/>
          </a:prstGeom>
          <a:solidFill>
            <a:srgbClr val="6C757D">
              <a:alpha val="50000"/>
            </a:srgbClr>
          </a:solidFill>
          <a:ln w="12700">
            <a:solidFill>
              <a:srgbClr val="6C757D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20440" y="23042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757D"/>
                </a:solidFill>
              </a:rPr>
              <a:t>▼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914400" y="2514600"/>
            <a:ext cx="5943600" cy="1051560"/>
          </a:xfrm>
          <a:prstGeom prst="rect">
            <a:avLst/>
          </a:prstGeom>
          <a:solidFill>
            <a:srgbClr val="2980B9">
              <a:alpha val="12000"/>
            </a:srgbClr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14400" y="2514600"/>
            <a:ext cx="201168" cy="10515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207008" y="258775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</a:rPr>
              <a:t>game-profiles  (게임별 설정)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207008" y="297180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스탯 · 통화 · 밸런스 가드레일 · ID 범위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040880" y="2606040"/>
            <a:ext cx="1828800" cy="868680"/>
          </a:xfrm>
          <a:prstGeom prst="rect">
            <a:avLst/>
          </a:prstGeom>
          <a:solidFill>
            <a:srgbClr val="2980B9">
              <a:alpha val="8000"/>
            </a:srgbClr>
          </a:solidFill>
          <a:ln w="12700">
            <a:solidFill>
              <a:srgbClr val="2980B9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086600" y="265176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idlez의 설정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다른 게임은 다른 프로필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3657600" y="3566160"/>
            <a:ext cx="640080" cy="182880"/>
          </a:xfrm>
          <a:prstGeom prst="rect">
            <a:avLst/>
          </a:prstGeom>
          <a:solidFill>
            <a:srgbClr val="6C757D">
              <a:alpha val="50000"/>
            </a:srgbClr>
          </a:solidFill>
          <a:ln w="12700">
            <a:solidFill>
              <a:srgbClr val="6C757D">
                <a:alpha val="5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20440" y="353872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C757D"/>
                </a:solidFill>
              </a:rPr>
              <a:t>▼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914400" y="3749040"/>
            <a:ext cx="5943600" cy="1051560"/>
          </a:xfrm>
          <a:prstGeom prst="rect">
            <a:avLst/>
          </a:prstGeom>
          <a:solidFill>
            <a:srgbClr val="E67E22">
              <a:alpha val="12000"/>
            </a:srgbClr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14400" y="3749040"/>
            <a:ext cx="201168" cy="105156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207008" y="3822192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67E22"/>
                </a:solidFill>
              </a:rPr>
              <a:t>content / idlez  (발산)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207008" y="4206240"/>
            <a:ext cx="4114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유닛 · 맵 · 스킬 · 보상 · 성장식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040880" y="3840480"/>
            <a:ext cx="1828800" cy="868680"/>
          </a:xfrm>
          <a:prstGeom prst="rect">
            <a:avLst/>
          </a:prstGeom>
          <a:solidFill>
            <a:srgbClr val="E67E22">
              <a:alpha val="8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086600" y="388620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AI가 생성, 사람이 승인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매 업데이트마다 변함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전체 하네스 컴포넌트 구조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757D"/>
                </a:solidFill>
              </a:rPr>
              <a:t>① 규칙 계층  (불변 — 모든 게임 공유)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4663440" cy="530352"/>
          </a:xfrm>
          <a:prstGeom prst="rect">
            <a:avLst/>
          </a:prstGeom>
          <a:solidFill>
            <a:srgbClr val="27AE60">
              <a:alpha val="12000"/>
            </a:srgbClr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097280"/>
            <a:ext cx="146304" cy="5303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1155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</a:rPr>
              <a:t>engine-contract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94360" y="1371600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</a:rPr>
              <a:t>스키마 · 스탯 · action-vocabulary · behavior-format · json-serialization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1719072"/>
            <a:ext cx="4663440" cy="530352"/>
          </a:xfrm>
          <a:prstGeom prst="rect">
            <a:avLst/>
          </a:prstGeom>
          <a:solidFill>
            <a:srgbClr val="2980B9">
              <a:alpha val="12000"/>
            </a:srgbClr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719072"/>
            <a:ext cx="146304" cy="5303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1737360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80B9"/>
                </a:solidFill>
              </a:rPr>
              <a:t>game-profiles  (게임별)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4360" y="1993392"/>
            <a:ext cx="43891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</a:rPr>
              <a:t>idlez.profile.yaml — 스탯범위 · 통화 · ID대역 · 밸런스 가드레일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423160" y="225856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↓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248716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757D"/>
                </a:solidFill>
              </a:rPr>
              <a:t>② 소스 계층  (발산)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2697480"/>
            <a:ext cx="4663440" cy="548640"/>
          </a:xfrm>
          <a:prstGeom prst="rect">
            <a:avLst/>
          </a:prstGeom>
          <a:solidFill>
            <a:srgbClr val="E67E22">
              <a:alpha val="12000"/>
            </a:srgbClr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697480"/>
            <a:ext cx="146304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94360" y="271576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67E22"/>
                </a:solidFill>
              </a:rPr>
              <a:t>content / idlez/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94360" y="2971800"/>
            <a:ext cx="4389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495057"/>
                </a:solidFill>
              </a:rPr>
              <a:t>unit.yaml · skill.yaml · map.yaml · behavior.yaml · growth.md · reward.yaml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2423160" y="326440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↓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365760" y="349300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757D"/>
                </a:solidFill>
              </a:rPr>
              <a:t>③ 컴파일 / 검증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703320"/>
            <a:ext cx="2240280" cy="502920"/>
          </a:xfrm>
          <a:prstGeom prst="rect">
            <a:avLst/>
          </a:prstGeom>
          <a:solidFill>
            <a:srgbClr val="34495E">
              <a:alpha val="12000"/>
            </a:srgbClr>
          </a:solidFill>
          <a:ln w="12700">
            <a:solidFill>
              <a:srgbClr val="34495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95E"/>
                </a:solidFill>
              </a:rPr>
              <a:t>idlez_compile.py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88920" y="3703320"/>
            <a:ext cx="2240280" cy="502920"/>
          </a:xfrm>
          <a:prstGeom prst="rect">
            <a:avLst/>
          </a:prstGeom>
          <a:solidFill>
            <a:srgbClr val="C0392B">
              <a:alpha val="12000"/>
            </a:srgbClr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862072" y="3703320"/>
            <a:ext cx="2103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0392B"/>
                </a:solidFill>
              </a:rPr>
              <a:t>tools/validate  (5-gate)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423160" y="422452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↓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365760" y="4453128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C757D"/>
                </a:solidFill>
              </a:rPr>
              <a:t>④ 빌드 산출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365760" y="4663440"/>
            <a:ext cx="4663440" cy="384048"/>
          </a:xfrm>
          <a:prstGeom prst="rect">
            <a:avLst/>
          </a:prstGeom>
          <a:solidFill>
            <a:srgbClr val="1A1A2E">
              <a:alpha val="15000"/>
            </a:srgbClr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" y="46634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A2E"/>
                </a:solidFill>
              </a:rPr>
              <a:t>build/idlez/  →  Units.json · Items.json · Skills.json · Maps.json · Triggers.json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303520" y="868680"/>
            <a:ext cx="3749040" cy="4206240"/>
          </a:xfrm>
          <a:prstGeom prst="rect">
            <a:avLst/>
          </a:prstGeom>
          <a:solidFill>
            <a:srgbClr val="9B59B6">
              <a:alpha val="7000"/>
            </a:srgbClr>
          </a:solidFill>
          <a:ln w="19050">
            <a:solidFill>
              <a:srgbClr val="9B59B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440680" y="91440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9B6"/>
                </a:solidFill>
              </a:rPr>
              <a:t>.claude/  AI 작성 계층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440680" y="120700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5057"/>
                </a:solidFill>
              </a:rPr>
              <a:t>Agents  (전문 역할 분담)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5394960" y="1435608"/>
            <a:ext cx="1691640" cy="548640"/>
          </a:xfrm>
          <a:prstGeom prst="rect">
            <a:avLst/>
          </a:prstGeom>
          <a:solidFill>
            <a:srgbClr val="9B59B6">
              <a:alpha val="18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49824" y="14721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2FBE"/>
                </a:solidFill>
              </a:rPr>
              <a:t>content-designer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449824" y="172821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95057"/>
                </a:solidFill>
              </a:rPr>
              <a:t>유닛/스킬/맵 정의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7223760" y="1435608"/>
            <a:ext cx="1691640" cy="548640"/>
          </a:xfrm>
          <a:prstGeom prst="rect">
            <a:avLst/>
          </a:prstGeom>
          <a:solidFill>
            <a:srgbClr val="9B59B6">
              <a:alpha val="18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78624" y="1472184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2FBE"/>
                </a:solidFill>
              </a:rPr>
              <a:t>economy-balancer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7278624" y="1728216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95057"/>
                </a:solidFill>
              </a:rPr>
              <a:t>성장식 + 경제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5394960" y="2093976"/>
            <a:ext cx="1691640" cy="548640"/>
          </a:xfrm>
          <a:prstGeom prst="rect">
            <a:avLst/>
          </a:prstGeom>
          <a:solidFill>
            <a:srgbClr val="9B59B6">
              <a:alpha val="18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449824" y="21305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2FBE"/>
                </a:solidFill>
              </a:rPr>
              <a:t>behavior-author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449824" y="2386584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95057"/>
                </a:solidFill>
              </a:rPr>
              <a:t>행동 로직 YAML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7223760" y="2093976"/>
            <a:ext cx="1691640" cy="548640"/>
          </a:xfrm>
          <a:prstGeom prst="rect">
            <a:avLst/>
          </a:prstGeom>
          <a:solidFill>
            <a:srgbClr val="9B59B6">
              <a:alpha val="18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78624" y="2130552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2FBE"/>
                </a:solidFill>
              </a:rPr>
              <a:t>asset-producer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7278624" y="2386584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95057"/>
                </a:solidFill>
              </a:rPr>
              <a:t>에셋 키 바인딩</a:t>
            </a:r>
            <a:endParaRPr lang="en-US" sz="750" dirty="0"/>
          </a:p>
        </p:txBody>
      </p:sp>
      <p:sp>
        <p:nvSpPr>
          <p:cNvPr id="44" name="Shape 42"/>
          <p:cNvSpPr/>
          <p:nvPr/>
        </p:nvSpPr>
        <p:spPr>
          <a:xfrm>
            <a:off x="5394960" y="2752344"/>
            <a:ext cx="1691640" cy="548640"/>
          </a:xfrm>
          <a:prstGeom prst="rect">
            <a:avLst/>
          </a:prstGeom>
          <a:solidFill>
            <a:srgbClr val="9B59B6">
              <a:alpha val="18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449824" y="2788920"/>
            <a:ext cx="1581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7B2FBE"/>
                </a:solidFill>
              </a:rPr>
              <a:t>content-reviewer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449824" y="3044952"/>
            <a:ext cx="15819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95057"/>
                </a:solidFill>
              </a:rPr>
              <a:t>5-gate 검증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5440680" y="278892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495057"/>
                </a:solidFill>
              </a:rPr>
              <a:t>Skills  (사용자 진입점 6개)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5394960" y="3017520"/>
            <a:ext cx="1691640" cy="347472"/>
          </a:xfrm>
          <a:prstGeom prst="rect">
            <a:avLst/>
          </a:prstGeom>
          <a:solidFill>
            <a:srgbClr val="2980B9">
              <a:alpha val="15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394960" y="30175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980B9"/>
                </a:solidFill>
              </a:rPr>
              <a:t>/gen-unit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7223760" y="3017520"/>
            <a:ext cx="1691640" cy="347472"/>
          </a:xfrm>
          <a:prstGeom prst="rect">
            <a:avLst/>
          </a:prstGeom>
          <a:solidFill>
            <a:srgbClr val="2980B9">
              <a:alpha val="15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7223760" y="3017520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980B9"/>
                </a:solidFill>
              </a:rPr>
              <a:t>/gen-map</a:t>
            </a:r>
            <a:endParaRPr lang="en-US" sz="850" dirty="0"/>
          </a:p>
        </p:txBody>
      </p:sp>
      <p:sp>
        <p:nvSpPr>
          <p:cNvPr id="52" name="Shape 50"/>
          <p:cNvSpPr/>
          <p:nvPr/>
        </p:nvSpPr>
        <p:spPr>
          <a:xfrm>
            <a:off x="5394960" y="3456432"/>
            <a:ext cx="1691640" cy="347472"/>
          </a:xfrm>
          <a:prstGeom prst="rect">
            <a:avLst/>
          </a:prstGeom>
          <a:solidFill>
            <a:srgbClr val="2980B9">
              <a:alpha val="15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5394960" y="34564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980B9"/>
                </a:solidFill>
              </a:rPr>
              <a:t>/gen-skill</a:t>
            </a:r>
            <a:endParaRPr lang="en-US" sz="850" dirty="0"/>
          </a:p>
        </p:txBody>
      </p:sp>
      <p:sp>
        <p:nvSpPr>
          <p:cNvPr id="54" name="Shape 52"/>
          <p:cNvSpPr/>
          <p:nvPr/>
        </p:nvSpPr>
        <p:spPr>
          <a:xfrm>
            <a:off x="7223760" y="3456432"/>
            <a:ext cx="1691640" cy="347472"/>
          </a:xfrm>
          <a:prstGeom prst="rect">
            <a:avLst/>
          </a:prstGeom>
          <a:solidFill>
            <a:srgbClr val="2980B9">
              <a:alpha val="15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223760" y="3456432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980B9"/>
                </a:solidFill>
              </a:rPr>
              <a:t>/gen-trigger</a:t>
            </a:r>
            <a:endParaRPr lang="en-US" sz="850" dirty="0"/>
          </a:p>
        </p:txBody>
      </p:sp>
      <p:sp>
        <p:nvSpPr>
          <p:cNvPr id="56" name="Shape 54"/>
          <p:cNvSpPr/>
          <p:nvPr/>
        </p:nvSpPr>
        <p:spPr>
          <a:xfrm>
            <a:off x="5394960" y="3895344"/>
            <a:ext cx="1691640" cy="347472"/>
          </a:xfrm>
          <a:prstGeom prst="rect">
            <a:avLst/>
          </a:prstGeom>
          <a:solidFill>
            <a:srgbClr val="2980B9">
              <a:alpha val="15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394960" y="389534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980B9"/>
                </a:solidFill>
              </a:rPr>
              <a:t>/balance-review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223760" y="3895344"/>
            <a:ext cx="1691640" cy="347472"/>
          </a:xfrm>
          <a:prstGeom prst="rect">
            <a:avLst/>
          </a:prstGeom>
          <a:solidFill>
            <a:srgbClr val="2980B9">
              <a:alpha val="15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7223760" y="3895344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980B9"/>
                </a:solidFill>
              </a:rPr>
              <a:t>/new-content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4892040" y="283464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9B59B6"/>
                </a:solidFill>
              </a:rPr>
              <a:t>←  생성</a:t>
            </a:r>
            <a:endParaRPr lang="en-US" sz="800" dirty="0"/>
          </a:p>
        </p:txBody>
      </p:sp>
      <p:sp>
        <p:nvSpPr>
          <p:cNvPr id="61" name="Text 5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F3460"/>
          </a:solidFill>
          <a:ln w="12700">
            <a:solidFill>
              <a:srgbClr val="0F34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idlez-server + idlez-client 아키텍처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A0A8B8"/>
                </a:solidFill>
              </a:rPr>
              <a:t>Harness가 만든 JSON이 서버-클라이언트로 흐르는 전체 경로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234440"/>
            <a:ext cx="2560320" cy="3383280"/>
          </a:xfrm>
          <a:prstGeom prst="rect">
            <a:avLst/>
          </a:prstGeom>
          <a:solidFill>
            <a:srgbClr val="27AE60">
              <a:alpha val="12000"/>
            </a:srgbClr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298448"/>
            <a:ext cx="2468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idle-game-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generator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74320" y="1810512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7AE60"/>
                </a:solidFill>
              </a:rPr>
              <a:t>(Harness)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84048" y="2148840"/>
            <a:ext cx="2249424" cy="329184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" y="214884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F5E3"/>
                </a:solidFill>
              </a:rPr>
              <a:t>engine-contract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" y="2551176"/>
            <a:ext cx="2249424" cy="329184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" y="2551176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F5E3"/>
                </a:solidFill>
              </a:rPr>
              <a:t>game-profiles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384048" y="2953512"/>
            <a:ext cx="2249424" cy="329184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0624" y="295351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F5E3"/>
                </a:solidFill>
              </a:rPr>
              <a:t>content/idlez/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3355848"/>
            <a:ext cx="2249424" cy="329184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20624" y="335584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F5E3"/>
                </a:solidFill>
              </a:rPr>
              <a:t>idlez_compile.py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84048" y="3758184"/>
            <a:ext cx="2249424" cy="329184"/>
          </a:xfrm>
          <a:prstGeom prst="rect">
            <a:avLst/>
          </a:prstGeom>
          <a:solidFill>
            <a:srgbClr val="27AE60">
              <a:alpha val="20000"/>
            </a:srgbClr>
          </a:solidFill>
          <a:ln w="12700">
            <a:solidFill>
              <a:srgbClr val="27AE60">
                <a:alpha val="4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0624" y="3758184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5F5E3"/>
                </a:solidFill>
              </a:rPr>
              <a:t>build/idlez/*.json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788920" y="2679192"/>
            <a:ext cx="640080" cy="73152"/>
          </a:xfrm>
          <a:prstGeom prst="rect">
            <a:avLst/>
          </a:prstGeom>
          <a:solidFill>
            <a:srgbClr val="A0A8B8"/>
          </a:solidFill>
          <a:ln w="12700">
            <a:solidFill>
              <a:srgbClr val="A0A8B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10128" y="25328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8B8"/>
                </a:solidFill>
              </a:rPr>
              <a:t>►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724912" y="27889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0A8B8"/>
                </a:solidFill>
              </a:rPr>
              <a:t>JSON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A0A8B8"/>
                </a:solidFill>
              </a:rPr>
              <a:t>콘텐츠 전달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429000" y="1234440"/>
            <a:ext cx="2468880" cy="3383280"/>
          </a:xfrm>
          <a:prstGeom prst="rect">
            <a:avLst/>
          </a:prstGeom>
          <a:solidFill>
            <a:srgbClr val="2980B9">
              <a:alpha val="12000"/>
            </a:srgbClr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474720" y="1298448"/>
            <a:ext cx="2377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2980B9"/>
                </a:solidFill>
              </a:rPr>
              <a:t>idlez-server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3474720" y="166420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2980B9"/>
                </a:solidFill>
              </a:rPr>
              <a:t>(.NET)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538728" y="2011680"/>
            <a:ext cx="2249424" cy="329184"/>
          </a:xfrm>
          <a:prstGeom prst="rect">
            <a:avLst/>
          </a:prstGeom>
          <a:solidFill>
            <a:srgbClr val="2980B9">
              <a:alpha val="20000"/>
            </a:srgbClr>
          </a:solidFill>
          <a:ln w="12700">
            <a:solidFill>
              <a:srgbClr val="2980B9">
                <a:alpha val="4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75304" y="2011680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</a:rPr>
              <a:t>콘텐츠 JSON 로드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3538728" y="2414016"/>
            <a:ext cx="2249424" cy="329184"/>
          </a:xfrm>
          <a:prstGeom prst="rect">
            <a:avLst/>
          </a:prstGeom>
          <a:solidFill>
            <a:srgbClr val="2980B9">
              <a:alpha val="20000"/>
            </a:srgbClr>
          </a:solidFill>
          <a:ln w="12700">
            <a:solidFill>
              <a:srgbClr val="2980B9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75304" y="2414016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</a:rPr>
              <a:t>게임 로직 처리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538728" y="2816352"/>
            <a:ext cx="2249424" cy="329184"/>
          </a:xfrm>
          <a:prstGeom prst="rect">
            <a:avLst/>
          </a:prstGeom>
          <a:solidFill>
            <a:srgbClr val="2980B9">
              <a:alpha val="20000"/>
            </a:srgbClr>
          </a:solidFill>
          <a:ln w="12700">
            <a:solidFill>
              <a:srgbClr val="2980B9">
                <a:alpha val="4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575304" y="2816352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</a:rPr>
              <a:t>경제 시스템 관리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538728" y="3218688"/>
            <a:ext cx="2249424" cy="329184"/>
          </a:xfrm>
          <a:prstGeom prst="rect">
            <a:avLst/>
          </a:prstGeom>
          <a:solidFill>
            <a:srgbClr val="2980B9">
              <a:alpha val="20000"/>
            </a:srgbClr>
          </a:solidFill>
          <a:ln w="12700">
            <a:solidFill>
              <a:srgbClr val="2980B9">
                <a:alpha val="4000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75304" y="3218688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</a:rPr>
              <a:t>REST / WebSocket API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538728" y="3621024"/>
            <a:ext cx="2249424" cy="329184"/>
          </a:xfrm>
          <a:prstGeom prst="rect">
            <a:avLst/>
          </a:prstGeom>
          <a:solidFill>
            <a:srgbClr val="2980B9">
              <a:alpha val="20000"/>
            </a:srgbClr>
          </a:solidFill>
          <a:ln w="12700">
            <a:solidFill>
              <a:srgbClr val="2980B9">
                <a:alpha val="4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75304" y="3621024"/>
            <a:ext cx="21762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D6EAF8"/>
                </a:solidFill>
              </a:rPr>
              <a:t>랭킹 · 저장 · 동기화</a:t>
            </a:r>
            <a:endParaRPr lang="en-US" sz="850" dirty="0"/>
          </a:p>
        </p:txBody>
      </p:sp>
      <p:sp>
        <p:nvSpPr>
          <p:cNvPr id="34" name="Shape 32"/>
          <p:cNvSpPr/>
          <p:nvPr/>
        </p:nvSpPr>
        <p:spPr>
          <a:xfrm>
            <a:off x="5897880" y="2679192"/>
            <a:ext cx="640080" cy="73152"/>
          </a:xfrm>
          <a:prstGeom prst="rect">
            <a:avLst/>
          </a:prstGeom>
          <a:solidFill>
            <a:srgbClr val="A0A8B8"/>
          </a:solidFill>
          <a:ln w="12700">
            <a:solidFill>
              <a:srgbClr val="A0A8B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0" y="2532888"/>
            <a:ext cx="274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A0A8B8"/>
                </a:solidFill>
              </a:rPr>
              <a:t>►</a:t>
            </a:r>
            <a:endParaRPr lang="en-US" sz="1600" dirty="0"/>
          </a:p>
        </p:txBody>
      </p:sp>
      <p:sp>
        <p:nvSpPr>
          <p:cNvPr id="36" name="Text 34"/>
          <p:cNvSpPr/>
          <p:nvPr/>
        </p:nvSpPr>
        <p:spPr>
          <a:xfrm>
            <a:off x="5833872" y="2788920"/>
            <a:ext cx="822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A0A8B8"/>
                </a:solidFill>
              </a:rPr>
              <a:t>API</a:t>
            </a:r>
            <a:endParaRPr lang="en-US" sz="750" dirty="0"/>
          </a:p>
          <a:p>
            <a:pPr algn="ctr" indent="0" marL="0">
              <a:buNone/>
            </a:pPr>
            <a:r>
              <a:rPr lang="en-US" sz="750" i="1" dirty="0">
                <a:solidFill>
                  <a:srgbClr val="A0A8B8"/>
                </a:solidFill>
              </a:rPr>
              <a:t>REST/WS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6629400" y="1234440"/>
            <a:ext cx="2286000" cy="3383280"/>
          </a:xfrm>
          <a:prstGeom prst="rect">
            <a:avLst/>
          </a:prstGeom>
          <a:solidFill>
            <a:srgbClr val="E67E22">
              <a:alpha val="12000"/>
            </a:srgbClr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675120" y="1298448"/>
            <a:ext cx="2194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67E22"/>
                </a:solidFill>
              </a:rPr>
              <a:t>idlez-client</a:t>
            </a:r>
            <a:endParaRPr lang="en-US" sz="1300" dirty="0"/>
          </a:p>
        </p:txBody>
      </p:sp>
      <p:sp>
        <p:nvSpPr>
          <p:cNvPr id="39" name="Text 37"/>
          <p:cNvSpPr/>
          <p:nvPr/>
        </p:nvSpPr>
        <p:spPr>
          <a:xfrm>
            <a:off x="6675120" y="166420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E67E22"/>
                </a:solidFill>
              </a:rPr>
              <a:t>(Unity)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6739128" y="2011680"/>
            <a:ext cx="2066544" cy="329184"/>
          </a:xfrm>
          <a:prstGeom prst="rect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75704" y="2011680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BD0"/>
                </a:solidFill>
              </a:rPr>
              <a:t>씬(Scene) 렌더링</a:t>
            </a:r>
            <a:endParaRPr lang="en-US" sz="850" dirty="0"/>
          </a:p>
        </p:txBody>
      </p:sp>
      <p:sp>
        <p:nvSpPr>
          <p:cNvPr id="42" name="Shape 40"/>
          <p:cNvSpPr/>
          <p:nvPr/>
        </p:nvSpPr>
        <p:spPr>
          <a:xfrm>
            <a:off x="6739128" y="2414016"/>
            <a:ext cx="2066544" cy="329184"/>
          </a:xfrm>
          <a:prstGeom prst="rect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75704" y="2414016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BD0"/>
                </a:solidFill>
              </a:rPr>
              <a:t>프리팹(Prefab) 표시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6739128" y="2816352"/>
            <a:ext cx="2066544" cy="329184"/>
          </a:xfrm>
          <a:prstGeom prst="rect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75704" y="2816352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BD0"/>
                </a:solidFill>
              </a:rPr>
              <a:t>유저 인터페이스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6739128" y="3218688"/>
            <a:ext cx="2066544" cy="329184"/>
          </a:xfrm>
          <a:prstGeom prst="rect">
            <a:avLst/>
          </a:prstGeom>
          <a:solidFill>
            <a:srgbClr val="E67E22">
              <a:alpha val="20000"/>
            </a:srgbClr>
          </a:solidFill>
          <a:ln w="12700">
            <a:solidFill>
              <a:srgbClr val="E67E22">
                <a:alpha val="40000"/>
              </a:srgbClr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775704" y="3218688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DEBD0"/>
                </a:solidFill>
              </a:rPr>
              <a:t>Spine 애니메이션</a:t>
            </a:r>
            <a:endParaRPr lang="en-US" sz="850" dirty="0"/>
          </a:p>
        </p:txBody>
      </p:sp>
      <p:sp>
        <p:nvSpPr>
          <p:cNvPr id="48" name="Shape 46"/>
          <p:cNvSpPr/>
          <p:nvPr/>
        </p:nvSpPr>
        <p:spPr>
          <a:xfrm>
            <a:off x="6739128" y="3621024"/>
            <a:ext cx="2066544" cy="329184"/>
          </a:xfrm>
          <a:prstGeom prst="rect">
            <a:avLst/>
          </a:prstGeom>
          <a:solidFill>
            <a:srgbClr val="7B2FBE">
              <a:alpha val="3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775704" y="3621024"/>
            <a:ext cx="199339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D8B4FE"/>
                </a:solidFill>
              </a:rPr>
              <a:t>Unity AI ★ (미래)</a:t>
            </a:r>
            <a:endParaRPr lang="en-US" sz="850" dirty="0"/>
          </a:p>
        </p:txBody>
      </p:sp>
      <p:sp>
        <p:nvSpPr>
          <p:cNvPr id="50" name="Shape 48"/>
          <p:cNvSpPr/>
          <p:nvPr/>
        </p:nvSpPr>
        <p:spPr>
          <a:xfrm>
            <a:off x="228600" y="4690872"/>
            <a:ext cx="8686800" cy="411480"/>
          </a:xfrm>
          <a:prstGeom prst="rect">
            <a:avLst/>
          </a:prstGeom>
          <a:solidFill>
            <a:srgbClr val="7B2FBE">
              <a:alpha val="20000"/>
            </a:srgbClr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690872"/>
            <a:ext cx="8412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D8B4FE"/>
                </a:solidFill>
              </a:rPr>
              <a:t>★  Unity AI  (unity.com/features/ai)  →  scene 자동 생성 · prefab 자동 수정  →  Harness asset-pipeline 연동 (3개월 로드맵)</a:t>
            </a:r>
            <a:endParaRPr lang="en-US" sz="950" dirty="0"/>
          </a:p>
        </p:txBody>
      </p:sp>
      <p:sp>
        <p:nvSpPr>
          <p:cNvPr id="52" name="Text 5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키우기 게임 JSON 시스템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</a:rPr>
              <a:t>엔진이 읽는 proto3 기반 커스텀 직렬화 — 소스 YAML을 이 형식으로 컴파일해야 실제 엔진이 로드한다.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1704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</a:rPr>
              <a:t>최상위 구조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4206240" cy="8686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0472"/>
            <a:ext cx="4023360" cy="722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"unitGlobal": { ...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"units": [ { 엔트리 }, ... ]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"itemGlobal": { ... },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"items": [ { 엔트리 }, ... ] 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235915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</a:rPr>
              <a:t>직렬화 5대 규칙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2633472"/>
            <a:ext cx="4206240" cy="402336"/>
          </a:xfrm>
          <a:prstGeom prst="rect">
            <a:avLst/>
          </a:prstGeom>
          <a:solidFill>
            <a:srgbClr val="EBF5FB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263347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①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77240" y="26700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529"/>
                </a:solidFill>
              </a:rPr>
              <a:t>int64 → 문자열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77240" y="28346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95057"/>
                </a:solidFill>
              </a:rPr>
              <a:t>count: "1000"  /  requiredExps: ["30","100"]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65760" y="3090672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309067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②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77240" y="31272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529"/>
                </a:solidFill>
              </a:rPr>
              <a:t>enum 기본값(0) → 필드 생략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77240" y="32918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95057"/>
                </a:solidFill>
              </a:rPr>
              <a:t>type=Hp(0) → {"value":[120.0]}  (type 키 없음)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365760" y="3547872"/>
            <a:ext cx="4206240" cy="402336"/>
          </a:xfrm>
          <a:prstGeom prst="rect">
            <a:avLst/>
          </a:prstGeom>
          <a:solidFill>
            <a:srgbClr val="EBF5FB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11480" y="354787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③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77240" y="35844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529"/>
                </a:solidFill>
              </a:rPr>
              <a:t>enum 표기 혼합 ★주의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77240" y="37490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95057"/>
                </a:solidFill>
              </a:rPr>
              <a:t>문자열: UnitStatType, ResourceUnit.Type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495057"/>
                </a:solidFill>
              </a:rPr>
              <a:t>정수: DamageCoefficient.armorType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365760" y="4005072"/>
            <a:ext cx="4206240" cy="402336"/>
          </a:xfrm>
          <a:prstGeom prst="rect">
            <a:avLst/>
          </a:prstGeom>
          <a:solidFill>
            <a:srgbClr val="FFFFFF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400507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④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77240" y="40416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529"/>
                </a:solidFill>
              </a:rPr>
              <a:t>float .0 유지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77240" y="42062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95057"/>
                </a:solidFill>
              </a:rPr>
              <a:t>120 → 120.0  (정수처럼 보여도 float)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65760" y="4462272"/>
            <a:ext cx="4206240" cy="402336"/>
          </a:xfrm>
          <a:prstGeom prst="rect">
            <a:avLst/>
          </a:prstGeom>
          <a:solidFill>
            <a:srgbClr val="EBF5FB"/>
          </a:solidFill>
          <a:ln w="12700">
            <a:solidFill>
              <a:srgbClr val="BDC3C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11480" y="4462272"/>
            <a:ext cx="3474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⑤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77240" y="4498848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12529"/>
                </a:solidFill>
              </a:rPr>
              <a:t>기본값(0/false/'') 전반 생략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77240" y="4663440"/>
            <a:ext cx="3749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95057"/>
                </a:solidFill>
              </a:rPr>
              <a:t>proto 기본값은 JSON 출력에서 제거됨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754880" y="1170432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12529"/>
                </a:solidFill>
              </a:rPr>
              <a:t>실제 컴파일 결과  (slime_green)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754880" y="1426464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7AE60"/>
                </a:solidFill>
              </a:rPr>
              <a:t>소스 (unit.yaml)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1627632"/>
            <a:ext cx="4206240" cy="118872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46320" y="1700784"/>
            <a:ext cx="4023360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110201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"초록 슬라임"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Elite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tags: [Monster]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addStats: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{ type: Hp, value: [120.0] }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{ type: Attack, value: [12.0] }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4754880" y="283464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2980B9"/>
                </a:solidFill>
              </a:rPr>
              <a:t>↓  idlez_compile.py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4754880" y="3108960"/>
            <a:ext cx="4206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E74C3C"/>
                </a:solidFill>
              </a:rPr>
              <a:t>컴파일 결과 (Units.json)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754880" y="3319272"/>
            <a:ext cx="4206240" cy="15087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392424"/>
            <a:ext cx="402336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"id": 110201,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"초록 슬라임",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"type": "Elite",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"tags": ["Monster"],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"addStats": [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"value": [120.0, 134.4, 150.5,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168.6, ...200레벨까지] },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 "type": "Attack",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"value": [12.0, 13.3, 14.8, ...] }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365760" y="4919472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6C757D"/>
                </a:solidFill>
              </a:rPr>
              <a:t>※ type=Hp(enum 0)는 직렬화 시 키 생략 | value[]는 성장식이 레벨 200까지 자동 생성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스탯 시스템  —  76종 UnitStatType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50392"/>
            <a:ext cx="8229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C757D"/>
                </a:solidFill>
              </a:rPr>
              <a:t>출처: idlez-client  Commons/Types/Units/UnitStatType.proto (enum 0~75, Count=76)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320040" y="1143000"/>
            <a:ext cx="2743200" cy="914400"/>
          </a:xfrm>
          <a:prstGeom prst="rect">
            <a:avLst/>
          </a:prstGeom>
          <a:solidFill>
            <a:srgbClr val="27AE60">
              <a:alpha val="12000"/>
            </a:srgbClr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1143000"/>
            <a:ext cx="2743200" cy="256032"/>
          </a:xfrm>
          <a:prstGeom prst="rect">
            <a:avLst/>
          </a:prstGeom>
          <a:solidFill>
            <a:srgbClr val="27AE60">
              <a:alpha val="80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143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Flat  (정수/실수 가산)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7AE60"/>
                </a:solidFill>
              </a:rPr>
              <a:t>Hp, Attack, Defense, MoveSpeed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411480" y="17099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95057"/>
                </a:solidFill>
              </a:rPr>
              <a:t>직접 더함. 기반 수치 제공.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200400" y="1143000"/>
            <a:ext cx="2743200" cy="914400"/>
          </a:xfrm>
          <a:prstGeom prst="rect">
            <a:avLst/>
          </a:prstGeom>
          <a:solidFill>
            <a:srgbClr val="2980B9">
              <a:alpha val="12000"/>
            </a:srgbClr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200400" y="1143000"/>
            <a:ext cx="2743200" cy="256032"/>
          </a:xfrm>
          <a:prstGeom prst="rect">
            <a:avLst/>
          </a:prstGeom>
          <a:solidFill>
            <a:srgbClr val="2980B9">
              <a:alpha val="80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91840" y="1143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XxxPercent  (% 가산)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91840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2980B9"/>
                </a:solidFill>
              </a:rPr>
              <a:t>HpPercent, AttackPercent, CriticalPercent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3291840" y="17099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95057"/>
                </a:solidFill>
              </a:rPr>
              <a:t>flat 합산 후 × (1 + Σ%/100)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6080760" y="1143000"/>
            <a:ext cx="2743200" cy="914400"/>
          </a:xfrm>
          <a:prstGeom prst="rect">
            <a:avLst/>
          </a:prstGeom>
          <a:solidFill>
            <a:srgbClr val="9B59B6">
              <a:alpha val="12000"/>
            </a:srgbClr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80760" y="1143000"/>
            <a:ext cx="2743200" cy="256032"/>
          </a:xfrm>
          <a:prstGeom prst="rect">
            <a:avLst/>
          </a:prstGeom>
          <a:solidFill>
            <a:srgbClr val="9B59B6">
              <a:alpha val="80000"/>
            </a:srgbClr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72200" y="114300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GameplayXxx  (보드 한정)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6172200" y="143560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B59B6"/>
                </a:solidFill>
              </a:rPr>
              <a:t>GameplayAttackPercent, GameplayCriticalPercent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6172200" y="1709928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495057"/>
                </a:solidFill>
              </a:rPr>
              <a:t>전투 보드 안에서만 적용되는 별도 채널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320040" y="2176272"/>
            <a:ext cx="8503920" cy="329184"/>
          </a:xfrm>
          <a:prstGeom prst="rect">
            <a:avLst/>
          </a:prstGeom>
          <a:solidFill>
            <a:srgbClr val="FFF3CD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7200" y="2176272"/>
            <a:ext cx="8321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856404"/>
                </a:solidFill>
              </a:rPr>
              <a:t>합산 모델:  최종값  =  (Flat 합)  ×  (1 + Percent 합 / 100)  →  전투 보드에서 Gameplay* 추가 적용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20040" y="2596896"/>
            <a:ext cx="4114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529"/>
                </a:solidFill>
              </a:rPr>
              <a:t>AddUnitStat 구조  —  value[]가 레벨 배열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320040" y="2834640"/>
            <a:ext cx="4114800" cy="12344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11480" y="2907792"/>
            <a:ext cx="3931920" cy="10881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proto 정의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message AddUnitStat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UnitStatType type  = 1;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repeated float value = 2;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value[level-1] 로 레벨별 값 조회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길이 1이면 상수 (모든 레벨 동일)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663440" y="259689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12529"/>
                </a:solidFill>
              </a:rPr>
              <a:t>idlez 프로필 — 18개 활성 스탯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4663440" y="2834640"/>
            <a:ext cx="4206240" cy="237744"/>
          </a:xfrm>
          <a:prstGeom prst="rect">
            <a:avLst/>
          </a:prstGeom>
          <a:solidFill>
            <a:srgbClr val="E74C3C">
              <a:alpha val="12000"/>
            </a:srgbClr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09160" y="2834640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74C3C"/>
                </a:solidFill>
              </a:rPr>
              <a:t>자원/생존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760720" y="2834640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95057"/>
                </a:solidFill>
              </a:rPr>
              <a:t>Hp  ·  HpPercent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4663440" y="3127248"/>
            <a:ext cx="4206240" cy="237744"/>
          </a:xfrm>
          <a:prstGeom prst="rect">
            <a:avLst/>
          </a:prstGeom>
          <a:solidFill>
            <a:srgbClr val="E67E22">
              <a:alpha val="12000"/>
            </a:srgbClr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09160" y="3127248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E67E22"/>
                </a:solidFill>
              </a:rPr>
              <a:t>공격/방어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5760720" y="3127248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95057"/>
                </a:solidFill>
              </a:rPr>
              <a:t>Attack  ·  AttackPercent  ·  GameplayAttackPercent  ·  Defense  ·  DefensePercent</a:t>
            </a:r>
            <a:endParaRPr lang="en-US" sz="750" dirty="0"/>
          </a:p>
        </p:txBody>
      </p:sp>
      <p:sp>
        <p:nvSpPr>
          <p:cNvPr id="32" name="Shape 30"/>
          <p:cNvSpPr/>
          <p:nvPr/>
        </p:nvSpPr>
        <p:spPr>
          <a:xfrm>
            <a:off x="4663440" y="3419856"/>
            <a:ext cx="4206240" cy="237744"/>
          </a:xfrm>
          <a:prstGeom prst="rect">
            <a:avLst/>
          </a:prstGeom>
          <a:solidFill>
            <a:srgbClr val="F39C12">
              <a:alpha val="12000"/>
            </a:srgbClr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09160" y="3419856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F39C12"/>
                </a:solidFill>
              </a:rPr>
              <a:t>치명타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760720" y="3419856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95057"/>
                </a:solidFill>
              </a:rPr>
              <a:t>CriticalPercent  ·  CriticalDamagePercent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663440" y="3712464"/>
            <a:ext cx="4206240" cy="237744"/>
          </a:xfrm>
          <a:prstGeom prst="rect">
            <a:avLst/>
          </a:prstGeom>
          <a:solidFill>
            <a:srgbClr val="27AE60">
              <a:alpha val="12000"/>
            </a:srgbClr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709160" y="3712464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7AE60"/>
                </a:solidFill>
              </a:rPr>
              <a:t>속도/쿨다운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5760720" y="3712464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95057"/>
                </a:solidFill>
              </a:rPr>
              <a:t>AttackSpeed  ·  AttackSpeedPercent  ·  MoveSpeed  ·  CooldownPercent</a:t>
            </a:r>
            <a:endParaRPr lang="en-US" sz="750" dirty="0"/>
          </a:p>
        </p:txBody>
      </p:sp>
      <p:sp>
        <p:nvSpPr>
          <p:cNvPr id="38" name="Shape 36"/>
          <p:cNvSpPr/>
          <p:nvPr/>
        </p:nvSpPr>
        <p:spPr>
          <a:xfrm>
            <a:off x="4663440" y="4005072"/>
            <a:ext cx="4206240" cy="237744"/>
          </a:xfrm>
          <a:prstGeom prst="rect">
            <a:avLst/>
          </a:prstGeom>
          <a:solidFill>
            <a:srgbClr val="2980B9">
              <a:alpha val="12000"/>
            </a:srgbClr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09160" y="4005072"/>
            <a:ext cx="1005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2980B9"/>
                </a:solidFill>
              </a:rPr>
              <a:t>경제/유틸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5760720" y="4005072"/>
            <a:ext cx="3063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495057"/>
                </a:solidFill>
              </a:rPr>
              <a:t>ExpPercent  ·  ItemDropPercent  ·  Luck  ·  MonsterDamageEfficiencyPercent  ·  BossDamageEfficiencyPercent</a:t>
            </a:r>
            <a:endParaRPr lang="en-US" sz="750" dirty="0"/>
          </a:p>
        </p:txBody>
      </p:sp>
      <p:sp>
        <p:nvSpPr>
          <p:cNvPr id="41" name="Text 39"/>
          <p:cNvSpPr/>
          <p:nvPr/>
        </p:nvSpPr>
        <p:spPr>
          <a:xfrm>
            <a:off x="4663440" y="4343400"/>
            <a:ext cx="4206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i="1" dirty="0">
                <a:solidFill>
                  <a:srgbClr val="6C757D"/>
                </a:solidFill>
              </a:rPr>
              <a:t>※ 76종 중 게임 프로필에 선언한 것만 사용 — 검증기가 미선언 스탯 사용 시 오류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320040" y="4114800"/>
            <a:ext cx="4114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12529"/>
                </a:solidFill>
              </a:rPr>
              <a:t>보조 스탯 채널 (상성)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57200" y="4352544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95057"/>
                </a:solidFill>
              </a:rPr>
              <a:t>•  ArmorType / ArmorTypeStat  —  방어 타입 상성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457200" y="4572000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95057"/>
                </a:solidFill>
              </a:rPr>
              <a:t>•  DamageType / DamageTypeStat  —  피해 타입 상성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457200" y="4791456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495057"/>
                </a:solidFill>
              </a:rPr>
              <a:t>•  ItemGroupStat · SlotStat · BuffGroupStat · SkillGroupStat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단독에는 없는 것 — 파이프라인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28600" y="1188720"/>
            <a:ext cx="1051560" cy="77724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28600" y="11887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① 기획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1280160" y="1298448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→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1472184" y="1188720"/>
            <a:ext cx="1051560" cy="7772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72184" y="11887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② 생성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523744" y="1298448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→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2715768" y="1188720"/>
            <a:ext cx="1051560" cy="7772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15768" y="11887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③ 바인딩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767328" y="1298448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→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3959352" y="1188720"/>
            <a:ext cx="1051560" cy="7772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959352" y="11887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④ 검증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10912" y="1298448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→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5202936" y="1188720"/>
            <a:ext cx="1051560" cy="7772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02936" y="11887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⑤ 컴파일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254496" y="1298448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→</a:t>
            </a:r>
            <a:endParaRPr lang="en-US" sz="1600" dirty="0"/>
          </a:p>
        </p:txBody>
      </p:sp>
      <p:sp>
        <p:nvSpPr>
          <p:cNvPr id="19" name="Shape 17"/>
          <p:cNvSpPr/>
          <p:nvPr/>
        </p:nvSpPr>
        <p:spPr>
          <a:xfrm>
            <a:off x="6446520" y="1188720"/>
            <a:ext cx="1051560" cy="77724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46520" y="11887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⑥ 배포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7498080" y="1298448"/>
            <a:ext cx="1920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6C757D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7690104" y="1188720"/>
            <a:ext cx="1051560" cy="77724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90104" y="1188720"/>
            <a:ext cx="10515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⑦ 리뷰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0" y="2148840"/>
            <a:ext cx="1371600" cy="274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560320" y="221284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E74C3C"/>
                </a:solidFill>
              </a:rPr>
              <a:t>오류 시 재작업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" y="2651760"/>
            <a:ext cx="8229600" cy="685800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" y="2651760"/>
            <a:ext cx="1097280" cy="685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57200" y="265176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AI 단독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691640" y="272491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생성 후 끝. 검증·컴파일·배포 = 전부 수작업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457200" y="3474720"/>
            <a:ext cx="8229600" cy="685800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57200" y="3474720"/>
            <a:ext cx="109728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34747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Harness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691640" y="3547872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각 단계 자동화 + 게이트로 품질 보증. 오류 즉시 피드백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/gen-unit — 유닛 1개가 이렇게 완성된다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gen-unit idlez "초록 슬라임, 체력 120, 공격력 12, 메도우 맵 등장"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394960" cy="2286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0472"/>
            <a:ext cx="521208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content/idlez/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units/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├── slime_green.unit.yaml        ← 유닛 정의 (스탯·타입·태그·참조)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slime_green.behavior.yaml   ← 행동 로직 (이벤트→액션)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├── growth/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└── slime-stat-growth.growth.md  ← 성장식 (레벨 1~200 자동 계산)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 rewards/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└── meadow_slime_drops.reward.yaml ← 드롭 테이블 (골드·재료·천장)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0" y="1417320"/>
            <a:ext cx="2834640" cy="713232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4721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✅ 스키마 준수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176479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engine-contract 기반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자동 검증 통과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240280"/>
            <a:ext cx="2834640" cy="713232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2951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✅ 참조 연결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80760" y="258775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behavior↔unit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reward↔unit 자동 바인딩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3063240"/>
            <a:ext cx="2834640" cy="713232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31181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✅ 성장식 200레벨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3410712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수식으로 배열 자동 생성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밸런스 조정 = 파라미터만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858768"/>
            <a:ext cx="8412480" cy="502920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" y="393192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AI 단독이라면:  파일 없음. JSON 덩어리 1개. 검증 없음. 성장식은 숫자 200개 직접 입력.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4407408"/>
            <a:ext cx="8412480" cy="502920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2920" y="448056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6B3A"/>
                </a:solidFill>
              </a:rPr>
              <a:t>Harness:  명령 1줄 → 파일 4개 자동 생성 → 5개 검증 게이트 통과 → 컴파일 준비 완료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 ① 유닛 정의 — slime_green.unit.yaml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303520" cy="40233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5120640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110201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"초록 슬라임"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Elite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tags: [Monster]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armorType: NormalArmor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addStats: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{ type: Hp,        value: [120.0]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{ type: Attack,    value: [12.0]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{ type: Defense,   value: [4.0]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{ type: MoveSpeed, value: [3.0]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UNIT_ONSTART_SLIMEBOUNCE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dropAddItemGroups: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$ref: rewards/meadow_slime_drops.reward.yaml#green_slime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prefab: "Units/Slime/slime_green.prefab"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sprite: "Units/Slime/slime_green.png"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897880" y="914400"/>
            <a:ext cx="292608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897880" y="914400"/>
            <a:ext cx="164592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172200" y="9692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110201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172200" y="12801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profile.id_ranges 에서 자동 할당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범위 초과 시 검증 오류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897880" y="1920240"/>
            <a:ext cx="292608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897880" y="1920240"/>
            <a:ext cx="164592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172200" y="197510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Elite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172200" y="228600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닫힌 enum 값만 허용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(engine-contract 기준)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897880" y="2926080"/>
            <a:ext cx="292608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97880" y="2926080"/>
            <a:ext cx="164592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172200" y="298094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17220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behavior.yaml 이름을 대문자 SNAKE로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자동 변환·연결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897880" y="3931920"/>
            <a:ext cx="2926080" cy="86868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897880" y="3931920"/>
            <a:ext cx="164592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72200" y="398678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$ref 참조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172200" y="429768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reward.yaml 앵커 참조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참조 무결성 자동 검증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 ② 행동 로직 — slime_green.behavior.yaml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303520" cy="20116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512064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SlimeBounce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domain: unit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event: start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moveRandom: {}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# unitMethod: SetMoveRandomDestination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365760" y="306324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</a:rPr>
              <a:t>▼  컴파일 결과 (Triggers.json)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3429000"/>
            <a:ext cx="5303520" cy="146304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502152"/>
            <a:ext cx="5120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"name": "UNIT_ONSTART_SLIMEBOUNCE",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"event": "start",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"domain": "unit",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"actions": [{ "type": "SetMoveRandomDestination" }]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897880" y="914400"/>
            <a:ext cx="2926080" cy="39319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989320" y="1005840"/>
            <a:ext cx="2743200" cy="1097280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80760" y="107899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7AE60"/>
                </a:solidFill>
              </a:rPr>
              <a:t>action-vocabulary 기반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6080760" y="1389888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action-vocabulary.md에 정의된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액션만 사용 가능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→ 엔진 실행 100% 보장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989320" y="2267712"/>
            <a:ext cx="2743200" cy="1097280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80760" y="2340864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74C3C"/>
                </a:solidFill>
              </a:rPr>
              <a:t>AI 단독이라면?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080760" y="265176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임의 메서드명 작성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→ 엔진이 인식 못 할 수 있음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→ 런타임 오류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989320" y="3529584"/>
            <a:ext cx="2743200" cy="1097280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3602736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980B9"/>
                </a:solidFill>
              </a:rPr>
              <a:t>컴파일 자동화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080760" y="3913632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YAML → JSON AST 변환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이름 규칙 자동 적용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(DOMAIN_ONEVENT_NAME)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 ③ 성장식 — slime-stat-growth.growth.md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40233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4846320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slime-stat-growth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bind: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type: unit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match: { tag: Monster }  # Monster 태그 전체 적용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levels: 1..200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---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hp(level) — 체력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= base * pow(growth, level - 1)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param  | value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|--------|-------|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base   | 120  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growth | 1.12  |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## atk(level) — 공격력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value = base * pow(growth, level - 1)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param  | value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|--------|-------|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base   | 12    |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| growth | 1.11  |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577840" y="914400"/>
            <a:ext cx="3200400" cy="868680"/>
          </a:xfrm>
          <a:prstGeom prst="rect">
            <a:avLst/>
          </a:prstGeom>
          <a:solidFill>
            <a:srgbClr val="F8FFFE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0" y="914400"/>
            <a:ext cx="137160" cy="86868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806440" y="96926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수식 기반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806440" y="126187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200개 숫자 직접 입력 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수식 1줄로 전 레벨 자동 계산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5577840" y="1920240"/>
            <a:ext cx="3200400" cy="868680"/>
          </a:xfrm>
          <a:prstGeom prst="rect">
            <a:avLst/>
          </a:prstGeom>
          <a:solidFill>
            <a:srgbClr val="F8FFFE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577840" y="1920240"/>
            <a:ext cx="137160" cy="8686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06440" y="197510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밸런스 조정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806440" y="226771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파라미터(base, growth)만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수정하면 전체 레벨 반영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577840" y="2926080"/>
            <a:ext cx="3200400" cy="868680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577840" y="2926080"/>
            <a:ext cx="137160" cy="8686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806440" y="298094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AI 단독이라면?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806440" y="327355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[120.0, 134.4, 150.5, 168.6,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189.0, 211.7, ...] × 200개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직접 계산 + 오류 위험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5577840" y="3931920"/>
            <a:ext cx="3200400" cy="868680"/>
          </a:xfrm>
          <a:prstGeom prst="rect">
            <a:avLst/>
          </a:prstGeom>
          <a:solidFill>
            <a:srgbClr val="F8FFFE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577840" y="3931920"/>
            <a:ext cx="137160" cy="86868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06440" y="3986784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C757D"/>
                </a:solidFill>
              </a:rPr>
              <a:t>컴파일 결과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806440" y="4279392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addStats[Hp].value =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[120.0, 134.4, 150.5,...]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(len=200, float)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산출 ④ 드롭 테이블 — meadow_slime_drops.reward.yaml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5029200" cy="402336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4846320" cy="38770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green_slime: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항상 주는 골드 (100%)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shouldAddAll: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probPercent: 100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addItems: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itemDataId: 5, minCount: 8,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maxCount: 15, isCore: true }  # 골드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itemDataId: 6, count: 5 }    # 경험치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# 확률 드롭 (35%)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shouldAddAll: false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probPercent: 35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addItems: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itemDataId: 200101, count: 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weight: 70, group: 1 }       # 일반 재료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itemDataId: 200102, count: 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weight: 25, group: 1 }       # 고급 재료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itemDataId: 200103, count: 1,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weight: 5, pityGroup: 10 }   # 희귀(천장10)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577840" y="914400"/>
            <a:ext cx="3200400" cy="397764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9280" y="1005840"/>
            <a:ext cx="3017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</a:rPr>
              <a:t>검증기 자동 계산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0" y="1417320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760720" y="1481328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</a:rPr>
              <a:t>기대 골드/처치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</a:rPr>
              <a:t>= (8+15)/2 = 11.5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669280" y="2258568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760720" y="2322576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</a:rPr>
              <a:t>희귀 기대 확률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</a:rPr>
              <a:t>= 0.35 × 5% = 1.75%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669280" y="3099816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760720" y="3163824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</a:rPr>
              <a:t>천장 보장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</a:rPr>
              <a:t>pityGroup=10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</a:rPr>
              <a:t>약 57처치마다 희귀 보장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669280" y="3941064"/>
            <a:ext cx="29260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8E6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760720" y="4005072"/>
            <a:ext cx="274320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</a:rPr>
              <a:t>itemDataId 무결성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</a:rPr>
              <a:t>200101, 200102, 200103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212529"/>
                </a:solidFill>
              </a:rPr>
              <a:t>실재 Item.id 자동 검증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/gen-map — 맵/던전이 이렇게 완성된다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gen-map idlez "메도우 초원 1스테이지, 3웨이브, 슬라임 군단, 보스 등장"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394960" cy="33832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0472"/>
            <a:ext cx="5212080" cy="3236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500101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"초원 1"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type: Dungeon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tags: [ContainPlayerInventory]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boardConstants: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levelUpChoiceCount: 3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triggers: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MAP_ONSTART_MEADOW1WAVE1   # 웨이브1: 일반 슬라임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MAP_ONSTART_MEADOW1WAVE2   # 웨이브2: 슬라임 밀집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MAP_ONSTART_MEADOW1WAVE3   # 웨이브3: 슬라임 보스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clearAddItemGroups: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shouldAddAll: true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probPercent: 100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addItems: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itemDataId: 5, minCount: 100, maxCount: 200 }  # 골드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shouldAddAll: false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probPercent: 25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addItems: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{ itemDataId: 200103, count: 1, pityGroup: 8 }  # 희귀(천장8)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prefab: "Maps/Meadow/meadow_1.prefab"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943600" y="1417320"/>
            <a:ext cx="2834640" cy="9601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080760" y="1490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산출 파일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080760" y="1801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meadow_1.map.yaml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meadow_1.behavior.yaml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943600" y="2560320"/>
            <a:ext cx="2834640" cy="9601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080760" y="2633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웨이브 로직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080760" y="2944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behavior.yaml 에 분리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(웨이브별 spawnUnit 액션)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0" y="3703320"/>
            <a:ext cx="2834640" cy="9601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80760" y="3776472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검증 항목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80760" y="4087368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Unit.id 110201, 110501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495057"/>
                </a:solidFill>
              </a:rPr>
              <a:t>실재 여부 자동 확인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/gen-skill — 스킬이 이렇게 완성된다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gen-skill idlez "베기 스킬, Pierce 타입, 쿨다운 1.5초, 120% 데미지"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12064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0472"/>
            <a:ext cx="49377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id: 300101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"베기"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damageType: Pierce       # DamageType enum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cooldown: 1.5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priority: 1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timelines: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{ time: 0.0,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playFx: { prefab: "FXPrefabs/VFX_Slash.prefab" }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time: 0.1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hit: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maxHit: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addDamage: { damagePercent: [120.0]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{ time: 0.4, destroy: {} }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365760" y="4462272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C757D"/>
                </a:solidFill>
              </a:rPr>
              <a:t>타임라인 (시각화):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8640" y="4572000"/>
            <a:ext cx="1371600" cy="41148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48640" y="4572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0.0s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FX 재생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1920240" y="4645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</a:rPr>
              <a:t>→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194560" y="4572000"/>
            <a:ext cx="1371600" cy="4114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194560" y="4572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0.1s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타격 판정 120%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566160" y="464515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C757D"/>
                </a:solidFill>
              </a:rPr>
              <a:t>→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840480" y="4572000"/>
            <a:ext cx="1371600" cy="411480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0" y="4572000"/>
            <a:ext cx="1371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0.4s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destroy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669280" y="1417320"/>
            <a:ext cx="3108960" cy="9601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669280" y="1417320"/>
            <a:ext cx="137160" cy="9601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897880" y="1490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산출 파일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897880" y="18013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slash.skill.yaml (1개)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669280" y="2560320"/>
            <a:ext cx="3108960" cy="9601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669280" y="2560320"/>
            <a:ext cx="137160" cy="9601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897880" y="2633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timelines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897880" y="29443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시점별 액션 배열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playFx/hit/destroy 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engine-contract 기반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5669280" y="3703320"/>
            <a:ext cx="3108960" cy="96012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669280" y="3703320"/>
            <a:ext cx="137160" cy="9601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97880" y="377647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damagePercent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897880" y="4087368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[120.0] = 레벨별 배열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강화 시 economy-balancer가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식으로 조정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/gen-trigger — 유닛 AI 행동이 이렇게 완성된다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gen-trigger idlez "슬라임 보스, HP 20% 이하일 때 슬라임 2마리 소환"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120640" cy="292608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0472"/>
            <a:ext cx="4937760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name: SlimeBossSplit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domain: unit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event: hpBelow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params: { ratio: 0.2 }    # HP 20% 이하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once: true                 # 한 번만 발동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spawnUnit: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id: 110201            # 초록 슬라임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count: 2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position: near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- playFx: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prefab: "FXPrefabs/VFX_Split.prefab"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4462272"/>
            <a:ext cx="5120640" cy="457200"/>
          </a:xfrm>
          <a:prstGeom prst="rect">
            <a:avLst/>
          </a:prstGeom>
          <a:solidFill>
            <a:srgbClr val="1A1A2E"/>
          </a:solidFill>
          <a:ln w="12700">
            <a:solidFill>
              <a:srgbClr val="33335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2920" y="452628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C757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컴파일 이름: </a:t>
            </a:r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UNIT_ONHPBELOW_SLIMEBOSSSPLIT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669280" y="1417320"/>
            <a:ext cx="3108960" cy="914400"/>
          </a:xfrm>
          <a:prstGeom prst="rect">
            <a:avLst/>
          </a:prstGeom>
          <a:solidFill>
            <a:srgbClr val="FFFBF0"/>
          </a:solidFill>
          <a:ln w="12700">
            <a:solidFill>
              <a:srgbClr val="E67E22">
                <a:alpha val="6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06440" y="149047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</a:rPr>
              <a:t>action-vocabulary 필수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806440" y="180136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hpBelow, spawnUnit, playFx...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어휘집에 없는 액션 사용 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→ 검증 오류 즉시 반환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669280" y="2468880"/>
            <a:ext cx="3108960" cy="914400"/>
          </a:xfrm>
          <a:prstGeom prst="rect">
            <a:avLst/>
          </a:prstGeom>
          <a:solidFill>
            <a:srgbClr val="FFF5F5"/>
          </a:solidFill>
          <a:ln w="12700">
            <a:solidFill>
              <a:srgbClr val="E74C3C">
                <a:alpha val="6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806440" y="25420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AI 단독이라면?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806440" y="285292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임의 조건·메서드명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→ 엔진 미지원 가능성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→ 런타임 크래시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669280" y="3520440"/>
            <a:ext cx="3108960" cy="914400"/>
          </a:xfrm>
          <a:prstGeom prst="rect">
            <a:avLst/>
          </a:prstGeom>
          <a:solidFill>
            <a:srgbClr val="F0FFF4"/>
          </a:solidFill>
          <a:ln w="12700">
            <a:solidFill>
              <a:srgbClr val="27AE60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806440" y="359359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once: true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806440" y="3904488"/>
            <a:ext cx="2834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이벤트 1회 발동 보장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중복 발동 방지 로직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자동 처리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/balance-review — 밸런스 리포트가 이렇게 나온다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96112"/>
            <a:ext cx="8412480" cy="384048"/>
          </a:xfrm>
          <a:prstGeom prst="rect">
            <a:avLst/>
          </a:prstGeom>
          <a:solidFill>
            <a:srgbClr val="0D1117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14400"/>
            <a:ext cx="8138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8A6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</a:t>
            </a:r>
            <a:pPr indent="0" marL="0">
              <a:buNone/>
            </a:pPr>
            <a:r>
              <a:rPr lang="en-US" sz="1100" dirty="0">
                <a:solidFill>
                  <a:srgbClr val="C9D1D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balance-review idlez slime_green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417320"/>
            <a:ext cx="5303520" cy="3429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490472"/>
            <a:ext cx="5120640" cy="3282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=== 밸런스 리뷰: slime_green (idlez) ===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[성장곡선]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Lv1  : HP=120,    ATK=12,    DEF=4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Lv10 : HP=331,    ATK=32,    DEF=17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Lv50 : HP=2,893,  ATK=264,   DEF=76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Lv100: HP=83,522, ATK=6,959, DEF=149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[스테이지 적합도]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Lv1~5  : ✓ 적합  (전투력 P/R = 1.0~1.2)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Lv10   : ⚠ 경계  (P/R = 0.85) ← "벽" 발생 구간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권고   : growth.atk base 12→15 상향 조정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[드롭 경제]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골드 기대치: 11.5/처치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희귀 아이템: 1.75%/처치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천장(pityGroup=10): 약 57처치마다 보장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5852160" y="1417320"/>
            <a:ext cx="2926080" cy="3429000"/>
          </a:xfrm>
          <a:prstGeom prst="rect">
            <a:avLst/>
          </a:prstGeom>
          <a:solidFill>
            <a:srgbClr val="F8F9FA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89320" y="150876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AI 단독이라면...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989320" y="19202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✗  성장식 수렴 여부 모름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989320" y="23774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✗  밸런스 '벽' 위치 알 수 없음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989320" y="28346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✗  드롭 기대치 직접 계산 필요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89320" y="329184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74C3C"/>
                </a:solidFill>
              </a:rPr>
              <a:t>✗  천장 시스템 별도 검증 필요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989320" y="3822192"/>
            <a:ext cx="2651760" cy="45720"/>
          </a:xfrm>
          <a:prstGeom prst="rect">
            <a:avLst/>
          </a:prstGeom>
          <a:solidFill>
            <a:srgbClr val="DEE2E6"/>
          </a:solidFill>
          <a:ln w="12700">
            <a:solidFill>
              <a:srgbClr val="DEE2E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89320" y="393192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</a:rPr>
              <a:t>Harness: 모두 자동 계산·보고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소스 → 컴파일 → 엔진 JSON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84124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74C3C"/>
                </a:solidFill>
              </a:rPr>
              <a:t>AI 단독: 엔진 JSON 직접 편집 → 버전 추적 불가, AI 재생성 불가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소스 (사람·AI가 작성)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65760" y="1554480"/>
            <a:ext cx="3474720" cy="2286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627632"/>
            <a:ext cx="32918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addStats: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 { type: Hp,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value: [120.0] }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성장식: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formula: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base * pow(growth, level-1)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base: 120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growth: 1.12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977640" y="2468880"/>
            <a:ext cx="118872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0" y="228600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2980B9"/>
                </a:solidFill>
              </a:rPr>
              <a:t>▶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069080" y="2743200"/>
            <a:ext cx="1005840" cy="640080"/>
          </a:xfrm>
          <a:prstGeom prst="rect">
            <a:avLst/>
          </a:prstGeom>
          <a:solidFill>
            <a:srgbClr val="E8F4FD"/>
          </a:solidFill>
          <a:ln w="12700">
            <a:solidFill>
              <a:srgbClr val="B8D4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069080" y="2788920"/>
            <a:ext cx="1005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2980B9"/>
                </a:solidFill>
              </a:rPr>
              <a:t>idlez_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2980B9"/>
                </a:solidFill>
              </a:rPr>
              <a:t>compile.py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303520" y="11887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980B9"/>
                </a:solidFill>
              </a:rPr>
              <a:t>엔진 JSON (컴파일 결과)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303520" y="1554480"/>
            <a:ext cx="3474720" cy="2286000"/>
          </a:xfrm>
          <a:prstGeom prst="rect">
            <a:avLst/>
          </a:prstGeom>
          <a:solidFill>
            <a:srgbClr val="1E1E1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94960" y="1627632"/>
            <a:ext cx="3291840" cy="2139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"addStats":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"value": 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"120.0",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"134.4",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"150.5",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"168.6",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...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D4D4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365760" y="397764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성장식 → 배열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7200" y="4315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수식으로 레벨200 배열 자동 생성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397764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337560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behavior → AST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337560" y="4315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YAML 트리거 → Triggers.json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26480" y="3977640"/>
            <a:ext cx="2651760" cy="685800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17920" y="4041648"/>
            <a:ext cx="2468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enum0 생략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217920" y="431596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type: Hp (enum0) → JSON에서 생략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단독에는 없는 것 — 5개 자동 검증 게이트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2286000"/>
            <a:ext cx="1097280" cy="73152"/>
          </a:xfrm>
          <a:prstGeom prst="rect">
            <a:avLst/>
          </a:prstGeom>
          <a:solidFill>
            <a:srgbClr val="6C757D"/>
          </a:solidFill>
          <a:ln w="12700">
            <a:solidFill>
              <a:srgbClr val="6C757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82880" y="169164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12529"/>
                </a:solidFill>
              </a:rPr>
              <a:t>생성된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212529"/>
                </a:solidFill>
              </a:rPr>
              <a:t>YAML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463040" y="1280160"/>
            <a:ext cx="43891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463040" y="1280160"/>
            <a:ext cx="457200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63040" y="12801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①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011680" y="13350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</a:rPr>
              <a:t>스키마 검증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011680" y="15910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필드·타입·enum 준수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1389888"/>
            <a:ext cx="12801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0" y="1389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PASS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760720" y="1389888"/>
            <a:ext cx="128016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760720" y="13898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❌ FAIL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132320" y="1335024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74C3C"/>
                </a:solidFill>
              </a:rPr>
              <a:t>→ 담당 에이전트로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74C3C"/>
                </a:solidFill>
              </a:rPr>
              <a:t>   자동 반려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463040" y="1965960"/>
            <a:ext cx="43891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63040" y="1965960"/>
            <a:ext cx="457200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463040" y="19659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②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11680" y="20208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</a:rPr>
              <a:t>참조 무결성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011680" y="22768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댕글링 참조 0개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389120" y="2075688"/>
            <a:ext cx="12801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389120" y="20756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PASS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463040" y="2651760"/>
            <a:ext cx="43891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463040" y="2651760"/>
            <a:ext cx="457200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63040" y="26517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③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011680" y="27066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</a:rPr>
              <a:t>스탯 가드레일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011680" y="29626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profile 범위 내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389120" y="2761488"/>
            <a:ext cx="12801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389120" y="27614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PASS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463040" y="3337560"/>
            <a:ext cx="43891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463040" y="3337560"/>
            <a:ext cx="457200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463040" y="33375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④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2011680" y="33924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</a:rPr>
              <a:t>밸런스 검증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2011680" y="36484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성장식 수렴 확인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389120" y="3447288"/>
            <a:ext cx="12801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389120" y="34472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PASS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1463040" y="4023360"/>
            <a:ext cx="4389120" cy="566928"/>
          </a:xfrm>
          <a:prstGeom prst="rect">
            <a:avLst/>
          </a:prstGeom>
          <a:solidFill>
            <a:srgbClr val="FFFFFF"/>
          </a:solidFill>
          <a:ln w="19050">
            <a:solidFill>
              <a:srgbClr val="27AE6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463040" y="4023360"/>
            <a:ext cx="457200" cy="56692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463040" y="4023360"/>
            <a:ext cx="4572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⑤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2011680" y="407822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12529"/>
                </a:solidFill>
              </a:rPr>
              <a:t>행동어휘 검증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2011680" y="4334256"/>
            <a:ext cx="2286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action-vocabulary 준수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389120" y="4133088"/>
            <a:ext cx="128016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389120" y="4133088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✅ PASS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1463040" y="4663440"/>
            <a:ext cx="4389120" cy="347472"/>
          </a:xfrm>
          <a:prstGeom prst="rect">
            <a:avLst/>
          </a:prstGeom>
          <a:solidFill>
            <a:srgbClr val="0D3B26"/>
          </a:solidFill>
          <a:ln w="12700">
            <a:solidFill>
              <a:srgbClr val="0D3B26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463040" y="4663440"/>
            <a:ext cx="43891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→ 컴파일 준비 완료</a:t>
            </a:r>
            <a:endParaRPr lang="en-US" sz="1300" dirty="0"/>
          </a:p>
        </p:txBody>
      </p:sp>
      <p:sp>
        <p:nvSpPr>
          <p:cNvPr id="46" name="Text 44"/>
          <p:cNvSpPr/>
          <p:nvPr/>
        </p:nvSpPr>
        <p:spPr>
          <a:xfrm>
            <a:off x="5852160" y="3200400"/>
            <a:ext cx="30175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AI 단독: 이 과정 전부 수작업 → 엔진 실행 후 발견 → 디버깅 반복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20</a:t>
            </a:r>
            <a:endParaRPr lang="en-US" sz="1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단독 1개 vs 전문 에이전트 5개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840480"/>
          </a:xfrm>
          <a:prstGeom prst="rect">
            <a:avLst/>
          </a:prstGeom>
          <a:solidFill>
            <a:srgbClr val="FFF5F5"/>
          </a:solidFill>
          <a:ln w="25400">
            <a:solidFill>
              <a:srgbClr val="FF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960120"/>
            <a:ext cx="3931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AI 단독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1508760"/>
            <a:ext cx="2103120" cy="68580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88720" y="150876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1개 AI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23317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→  유닛 정의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48640" y="2770632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→  성장식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3209544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→  행동 로직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48640" y="3648456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→  에셋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48640" y="4087368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→  검증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44348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C757D"/>
                </a:solidFill>
              </a:rPr>
              <a:t>(일관성 없음, 역할 경계 없음)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960120"/>
            <a:ext cx="4160520" cy="3840480"/>
          </a:xfrm>
          <a:prstGeom prst="rect">
            <a:avLst/>
          </a:prstGeom>
          <a:solidFill>
            <a:srgbClr val="F0FFF4"/>
          </a:solidFill>
          <a:ln w="25400">
            <a:solidFill>
              <a:srgbClr val="A8E6C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960120"/>
            <a:ext cx="4160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27AE60"/>
                </a:solidFill>
              </a:rPr>
              <a:t>Harness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800600" y="1463040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800600" y="1463040"/>
            <a:ext cx="137160" cy="548640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029200" y="14813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98D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content-designer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5029200" y="1755648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유닛·맵·스킬 정의 YAML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800600" y="2121408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800600" y="2121408"/>
            <a:ext cx="137160" cy="54864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029200" y="213969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economy-balancer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029200" y="241401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성장식 + 경제 밸런싱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00600" y="2779776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00600" y="2779776"/>
            <a:ext cx="137160" cy="548640"/>
          </a:xfrm>
          <a:prstGeom prst="rect">
            <a:avLst/>
          </a:prstGeom>
          <a:solidFill>
            <a:srgbClr val="9B59B6"/>
          </a:solidFill>
          <a:ln w="12700">
            <a:solidFill>
              <a:srgbClr val="9B59B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0" y="279806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behavior-author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0" y="3072384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행동 로직 YAML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00600" y="3438144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800600" y="3438144"/>
            <a:ext cx="137160" cy="54864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029200" y="34564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asset-producer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5029200" y="3730752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에셋 키 + 레지스트리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4096512"/>
            <a:ext cx="384048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800600" y="4096512"/>
            <a:ext cx="137160" cy="54864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029200" y="411480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content-reviewer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029200" y="4389120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495057"/>
                </a:solidFill>
              </a:rPr>
              <a:t>5개 게이트 검증 + 최종 승인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754880" y="449884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E74C3C"/>
                </a:solidFill>
              </a:rPr>
              <a:t>오류 시 담당 에이전트로 자동 반려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3977640" y="246888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757D"/>
                </a:solidFill>
              </a:rPr>
              <a:t>vs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21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Harness/Skill — 6개 진입점 전체 지도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0" y="868680"/>
            <a:ext cx="2743200" cy="658368"/>
          </a:xfrm>
          <a:prstGeom prst="roundRect">
            <a:avLst>
              <a:gd name="adj" fmla="val 13889"/>
            </a:avLst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0" y="86868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</a:rPr>
              <a:t>/new-content  (오케스트레이터)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4320" y="1828800"/>
            <a:ext cx="2194560" cy="1005840"/>
          </a:xfrm>
          <a:prstGeom prst="rect">
            <a:avLst/>
          </a:prstGeom>
          <a:solidFill>
            <a:srgbClr val="27AE60">
              <a:alpha val="85000"/>
            </a:srgbClr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7AE6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/gen-unit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47472" y="21762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유닛 정의 + 성장식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+ 행동 + 드롭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(파일 4개)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766560" y="1828800"/>
            <a:ext cx="2194560" cy="1005840"/>
          </a:xfrm>
          <a:prstGeom prst="rect">
            <a:avLst/>
          </a:prstGeom>
          <a:solidFill>
            <a:srgbClr val="2980B9">
              <a:alpha val="85000"/>
            </a:srgbClr>
          </a:solidFill>
          <a:ln w="25400">
            <a:solidFill>
              <a:srgbClr val="2980B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12280" y="188366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980B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/gen-map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839712" y="217627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맵 정의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+ 웨이브 로직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(파일 2개)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3291840"/>
            <a:ext cx="2194560" cy="1005840"/>
          </a:xfrm>
          <a:prstGeom prst="rect">
            <a:avLst/>
          </a:prstGeom>
          <a:solidFill>
            <a:srgbClr val="9B59B6">
              <a:alpha val="85000"/>
            </a:srgbClr>
          </a:solidFill>
          <a:ln w="25400">
            <a:solidFill>
              <a:srgbClr val="9B59B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3346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B59B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/gen-skill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47472" y="36393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스킬 정의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타임라인·데미지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(파일 1개)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766560" y="3291840"/>
            <a:ext cx="2194560" cy="1005840"/>
          </a:xfrm>
          <a:prstGeom prst="rect">
            <a:avLst/>
          </a:prstGeom>
          <a:solidFill>
            <a:srgbClr val="E67E22">
              <a:alpha val="85000"/>
            </a:srgbClr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812280" y="33467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67E2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/gen-trigger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839712" y="36393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행동 로직 YAML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이벤트→액션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(파일 1개)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383280" y="4206240"/>
            <a:ext cx="2194560" cy="1005840"/>
          </a:xfrm>
          <a:prstGeom prst="rect">
            <a:avLst/>
          </a:prstGeom>
          <a:solidFill>
            <a:srgbClr val="E74C3C">
              <a:alpha val="85000"/>
            </a:srgbClr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429000" y="4261104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/balance-review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3456432" y="4553712"/>
            <a:ext cx="2011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밸런스 리포트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성장곡선·드롭경제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'벽' 위치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1371600" y="1527048"/>
            <a:ext cx="2743200" cy="301752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5029200" y="1527048"/>
            <a:ext cx="2834640" cy="301752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1371600" y="1527048"/>
            <a:ext cx="2743200" cy="1764792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24" name="Shape 22"/>
          <p:cNvSpPr/>
          <p:nvPr/>
        </p:nvSpPr>
        <p:spPr>
          <a:xfrm>
            <a:off x="5029200" y="1527048"/>
            <a:ext cx="2834640" cy="1764792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25" name="Shape 23"/>
          <p:cNvSpPr/>
          <p:nvPr/>
        </p:nvSpPr>
        <p:spPr>
          <a:xfrm>
            <a:off x="4480560" y="1527048"/>
            <a:ext cx="91440" cy="2679192"/>
          </a:xfrm>
          <a:prstGeom prst="line">
            <a:avLst/>
          </a:prstGeom>
          <a:noFill/>
          <a:ln w="12700">
            <a:solidFill>
              <a:srgbClr val="CCCCCC"/>
            </a:solidFill>
            <a:prstDash val="dash"/>
          </a:ln>
        </p:spPr>
      </p:sp>
      <p:sp>
        <p:nvSpPr>
          <p:cNvPr id="26" name="Text 24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22</a:t>
            </a:r>
            <a:endParaRPr lang="en-US" sz="10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수치로 보는 차이 — 개발 속도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68680"/>
          <a:ext cx="5303520" cy="34747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852160" y="868680"/>
            <a:ext cx="3017520" cy="1645920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989320" y="9144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E74C3C"/>
                </a:solidFill>
              </a:rPr>
              <a:t>월 콘텐츠 기준 (유닛 10개+)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80760" y="128016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74C3C"/>
                </a:solidFill>
              </a:rPr>
              <a:t>AI 단독: 350시간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6080760" y="16002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Harness: 25시간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5852160" y="2651760"/>
            <a:ext cx="3017520" cy="1645920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989320" y="269748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AE60"/>
                </a:solidFill>
              </a:rPr>
              <a:t>95% 단축</a:t>
            </a:r>
            <a:endParaRPr lang="en-US" sz="3200" dirty="0"/>
          </a:p>
        </p:txBody>
      </p:sp>
      <p:sp>
        <p:nvSpPr>
          <p:cNvPr id="11" name="Text 8"/>
          <p:cNvSpPr/>
          <p:nvPr/>
        </p:nvSpPr>
        <p:spPr>
          <a:xfrm>
            <a:off x="5989320" y="329184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같은 팀이 5배 더 많은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212529"/>
                </a:solidFill>
              </a:rPr>
              <a:t>게임을 만들 수 있다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365760" y="44805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C757D"/>
                </a:solidFill>
              </a:rPr>
              <a:t>단위: 분 (minutes)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23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신뢰도 비교 — 오류율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4754880" y="914400"/>
          <a:ext cx="36576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457200" y="434340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80B9"/>
                </a:solidFill>
              </a:rPr>
              <a:t>게임팀이 버그 잡는 시간  →  새 콘텐츠 만드는 시간으로</a:t>
            </a:r>
            <a:endParaRPr lang="en-US" sz="1600" dirty="0"/>
          </a:p>
        </p:txBody>
      </p:sp>
      <p:sp>
        <p:nvSpPr>
          <p:cNvPr id="7" name="Text 3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24</a:t>
            </a:r>
            <a:endParaRPr lang="en-US" sz="10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두 번째 게임을 만들 때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3931920" cy="3931920"/>
          </a:xfrm>
          <a:prstGeom prst="rect">
            <a:avLst/>
          </a:prstGeom>
          <a:solidFill>
            <a:srgbClr val="FFF5F5"/>
          </a:solidFill>
          <a:ln w="25400">
            <a:solidFill>
              <a:srgbClr val="FFD0D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AI 단독: 새 게임 = 처음부터 다시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5544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✗  새 프롬프트 설계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10312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4884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✗  새 스키마 협의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69748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74320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✗  새 검증 체계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29184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33756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✗  새 컴파일 방법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886200"/>
            <a:ext cx="34747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94360" y="393192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✗  새 밸런스 가이드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4480560"/>
            <a:ext cx="3474720" cy="34747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480560"/>
            <a:ext cx="34747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공수: 첫 번째와 동일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663440" y="960120"/>
            <a:ext cx="4160520" cy="3931920"/>
          </a:xfrm>
          <a:prstGeom prst="rect">
            <a:avLst/>
          </a:prstGeom>
          <a:solidFill>
            <a:srgbClr val="F0FFF4"/>
          </a:solidFill>
          <a:ln w="25400">
            <a:solidFill>
              <a:srgbClr val="A8E6C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754880" y="1005840"/>
            <a:ext cx="3931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Harness: 새 게임 = 프로필만 새로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800600" y="150876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937760" y="155448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980B9"/>
                </a:solidFill>
              </a:rPr>
              <a:t>📄  my-game2.profile.yaml  (1시간)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800600" y="210312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937760" y="214884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♻  engine-contract  재사용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800600" y="269748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937760" y="274320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♻  7단계 파이프라인  재사용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00600" y="329184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937760" y="333756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♻  스킬 6개  재사용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00600" y="3886200"/>
            <a:ext cx="384048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37760" y="3931920"/>
            <a:ext cx="3566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7AE60"/>
                </a:solidFill>
              </a:rPr>
              <a:t>♻  검증 게이트  재사용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00600" y="4480560"/>
            <a:ext cx="3840480" cy="34747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4480560"/>
            <a:ext cx="3840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공수: 첫 번째의 20%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977640" y="2560320"/>
            <a:ext cx="640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6C757D"/>
                </a:solidFill>
              </a:rPr>
              <a:t>vs</a:t>
            </a:r>
            <a:endParaRPr lang="en-US" sz="2200" dirty="0"/>
          </a:p>
        </p:txBody>
      </p:sp>
      <p:sp>
        <p:nvSpPr>
          <p:cNvPr id="33" name="Text 31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25</a:t>
            </a:r>
            <a:endParaRPr lang="en-US" sz="10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게임이 많아질수록 벌어지는 차이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896112"/>
          <a:ext cx="5943600" cy="39319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92240" y="896112"/>
            <a:ext cx="2377440" cy="1920240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583680" y="9601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74C3C"/>
                </a:solidFill>
              </a:rPr>
              <a:t>AI 단독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583680" y="13258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5057"/>
                </a:solidFill>
              </a:rPr>
              <a:t>게임 추가할수록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95057"/>
                </a:solidFill>
              </a:rPr>
              <a:t>비용 선형 증가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95057"/>
                </a:solidFill>
              </a:rPr>
              <a:t>게임 5개 = 1,500h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92240" y="2971800"/>
            <a:ext cx="2377440" cy="1920240"/>
          </a:xfrm>
          <a:prstGeom prst="rect">
            <a:avLst/>
          </a:prstGeom>
          <a:solidFill>
            <a:srgbClr val="F0FFF4"/>
          </a:solidFill>
          <a:ln w="12700">
            <a:solidFill>
              <a:srgbClr val="A8E6C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583680" y="303580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27AE60"/>
                </a:solidFill>
              </a:rPr>
              <a:t>Harness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583680" y="3401568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95057"/>
                </a:solidFill>
              </a:rPr>
              <a:t>게임 추가할수록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95057"/>
                </a:solidFill>
              </a:rPr>
              <a:t>한계비용 감소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495057"/>
                </a:solidFill>
              </a:rPr>
              <a:t>게임 5개 = 830h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365760" y="48006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980B9"/>
                </a:solidFill>
              </a:rPr>
              <a:t>교차점: 2번째 게임부터 Harness가 유리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이미 동작한다 — 현재 검증 현황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1005840"/>
            <a:ext cx="8412480" cy="822960"/>
          </a:xfrm>
          <a:prstGeom prst="rect">
            <a:avLst/>
          </a:prstGeom>
          <a:solidFill>
            <a:srgbClr val="F0FFF4"/>
          </a:solidFill>
          <a:ln w="19050">
            <a:solidFill>
              <a:srgbClr val="A8E6C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972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97280" y="1060704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슬라임 샘플 검증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097280" y="1389888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</a:rPr>
              <a:t>정의/인스턴스 분리 · 계층 구조 · 소스→JSON · 참조 무결성  →  4/4 PASS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65760" y="1993392"/>
            <a:ext cx="8412480" cy="822960"/>
          </a:xfrm>
          <a:prstGeom prst="rect">
            <a:avLst/>
          </a:prstGeom>
          <a:solidFill>
            <a:srgbClr val="F0FFF4"/>
          </a:solidFill>
          <a:ln w="19050">
            <a:solidFill>
              <a:srgbClr val="A8E6C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084832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097280" y="2048256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컴파일 완성도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97280" y="237744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</a:rPr>
              <a:t>unit · item · skill · buff · map · string · achievement · audio  →  9/9 PASS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80944"/>
            <a:ext cx="8412480" cy="822960"/>
          </a:xfrm>
          <a:prstGeom prst="rect">
            <a:avLst/>
          </a:prstGeom>
          <a:solidFill>
            <a:srgbClr val="F0FFF4"/>
          </a:solidFill>
          <a:ln w="19050">
            <a:solidFill>
              <a:srgbClr val="A8E6C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072384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097280" y="3035808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behavior → Triggers.json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364992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</a:rPr>
              <a:t>YAML → 실제 call/postfix AST 컴파일 정상 동작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" y="3968496"/>
            <a:ext cx="8412480" cy="822960"/>
          </a:xfrm>
          <a:prstGeom prst="rect">
            <a:avLst/>
          </a:prstGeom>
          <a:solidFill>
            <a:srgbClr val="F0FFF4"/>
          </a:solidFill>
          <a:ln w="19050">
            <a:solidFill>
              <a:srgbClr val="A8E6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4059936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</a:rPr>
              <a:t>✅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097280" y="40233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7AE60"/>
                </a:solidFill>
              </a:rPr>
              <a:t>참조 런타임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97280" y="4352544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95057"/>
                </a:solidFill>
              </a:rPr>
              <a:t>idle-runtime.html — engine-independent 플레이어블 확인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27</a:t>
            </a:r>
            <a:endParaRPr lang="en-US" sz="10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Harness의 한계 — 솔직하게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65760" y="896112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현재 한계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4114800" cy="804672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89888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⚠  action-vocabulary 밖의 행동 불가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→ 엔진 팀 작업 필요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286000"/>
            <a:ext cx="4114800" cy="804672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2350008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⚠  환생 / 가챠 / 장비 시스템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아직 미구현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65760" y="3246120"/>
            <a:ext cx="4114800" cy="804672"/>
          </a:xfrm>
          <a:prstGeom prst="rect">
            <a:avLst/>
          </a:prstGeom>
          <a:solidFill>
            <a:srgbClr val="FFF5F5"/>
          </a:solidFill>
          <a:ln w="12700">
            <a:solidFill>
              <a:srgbClr val="FFD0D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02920" y="3310128"/>
            <a:ext cx="384048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74C3C"/>
                </a:solidFill>
              </a:rPr>
              <a:t>⚠  에셋 실파일(CDN) 통합 미완성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54880" y="896112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980B9"/>
                </a:solidFill>
              </a:rPr>
              <a:t>AI 단독이 여전히 유리한 영역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325880"/>
            <a:ext cx="4023360" cy="80467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92040" y="138988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80B9"/>
                </a:solidFill>
              </a:rPr>
              <a:t>💡  아이디어 발산, 스토리텔링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0" y="2286000"/>
            <a:ext cx="4023360" cy="80467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92040" y="235000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80B9"/>
                </a:solidFill>
              </a:rPr>
              <a:t>💡  기획 초안, 컨셉 스케치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54880" y="3246120"/>
            <a:ext cx="4023360" cy="804672"/>
          </a:xfrm>
          <a:prstGeom prst="rect">
            <a:avLst/>
          </a:prstGeom>
          <a:solidFill>
            <a:srgbClr val="EBF5FB"/>
          </a:solidFill>
          <a:ln w="12700">
            <a:solidFill>
              <a:srgbClr val="AED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92040" y="3310128"/>
            <a:ext cx="37490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980B9"/>
                </a:solidFill>
              </a:rPr>
              <a:t>💡  텍스트/대사 생성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365760" y="4206240"/>
            <a:ext cx="8412480" cy="685800"/>
          </a:xfrm>
          <a:prstGeom prst="rect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25196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</a:rPr>
              <a:t>결론: 대립이 아니라 </a:t>
            </a:r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</a:rPr>
              <a:t>분업</a:t>
            </a:r>
            <a:pPr algn="ctr" indent="0" marL="0">
              <a:buNone/>
            </a:pPr>
            <a:r>
              <a:rPr lang="en-US" sz="1400" dirty="0">
                <a:solidFill>
                  <a:srgbClr val="AAAACC"/>
                </a:solidFill>
              </a:rPr>
              <a:t>  —  AI 단독(기획·아이디어) + Harness(생성·검증·배포)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28</a:t>
            </a:r>
            <a:endParaRPr lang="en-US" sz="10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9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앞으로의 계획 — 로드맵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1965960" cy="4572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현재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74320" y="12618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완성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74320" y="150876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7AE60">
                <a:alpha val="6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16276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✅  기본 6개 스킬 ✅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384048" y="23774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✅  검증 파이프라인 ✅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384048" y="31272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✅  컴파일러 ✅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84048" y="3877056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✅  참조 런타임 ✅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240280" y="23774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757D"/>
                </a:solidFill>
              </a:rPr>
              <a:t>→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2450592" y="1005840"/>
            <a:ext cx="1965960" cy="457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450592" y="10058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1개월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450592" y="12618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진행 중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450592" y="150876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2980B9">
                <a:alpha val="6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560320" y="16276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•  환생/가챠/장비 시스템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2560320" y="23774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•  참조 런타임 확장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2560320" y="31272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•  드롭 경제 고도화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416552" y="23774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757D"/>
                </a:solidFill>
              </a:rPr>
              <a:t>→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4626864" y="1005840"/>
            <a:ext cx="1965960" cy="457200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626864" y="10058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3개월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626864" y="12618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예정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626864" y="150876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67E22">
                <a:alpha val="60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36592" y="16276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•  idlez-server 도입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36592" y="23774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•  idlez-client (Unity) 통합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36592" y="31272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•  Unity AI scene/prefab 자동 생성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592824" y="2377440"/>
            <a:ext cx="2103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C757D"/>
                </a:solidFill>
              </a:rPr>
              <a:t>→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6803136" y="1005840"/>
            <a:ext cx="1965960" cy="4572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03136" y="100584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12개월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803136" y="1261872"/>
            <a:ext cx="1965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목표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803136" y="1508760"/>
            <a:ext cx="1965960" cy="3246120"/>
          </a:xfrm>
          <a:prstGeom prst="rect">
            <a:avLst/>
          </a:prstGeom>
          <a:solidFill>
            <a:srgbClr val="FFFFFF"/>
          </a:solidFill>
          <a:ln w="12700">
            <a:solidFill>
              <a:srgbClr val="7B2FBE">
                <a:alpha val="60000"/>
              </a:srgbClr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912864" y="1627632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•  Unity AI prefab 수정 파이프라인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912864" y="2377440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•  자동화율 80%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6912864" y="3127248"/>
            <a:ext cx="1737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212529"/>
                </a:solidFill>
              </a:rPr>
              <a:t>•  월 게임 1개 추가 체계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365760" y="4846320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980B9"/>
                </a:solidFill>
              </a:rPr>
              <a:t>최종 목표: idlez-client/server + Unity AI로 완전 자동화된 게임 개발 파이프라인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29</a:t>
            </a:r>
            <a:endParaRPr lang="en-US" sz="10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8888AA"/>
                </a:solidFill>
              </a:rPr>
              <a:t>왜 Harness/Skill인가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365760" y="1005840"/>
            <a:ext cx="8412480" cy="1115568"/>
          </a:xfrm>
          <a:prstGeom prst="rect">
            <a:avLst/>
          </a:prstGeom>
          <a:solidFill>
            <a:srgbClr val="16213E"/>
          </a:solidFill>
          <a:ln w="25400">
            <a:solidFill>
              <a:srgbClr val="27AE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40"/>
            <a:ext cx="731520" cy="1115568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731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234440" y="1115568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AACC"/>
                </a:solidFill>
              </a:rPr>
              <a:t>AI는 생성한다.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234440" y="1536192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7AE60"/>
                </a:solidFill>
              </a:rPr>
              <a:t>Harness는 검증한다.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365760" y="2304288"/>
            <a:ext cx="8412480" cy="1115568"/>
          </a:xfrm>
          <a:prstGeom prst="rect">
            <a:avLst/>
          </a:prstGeom>
          <a:solidFill>
            <a:srgbClr val="16213E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" y="2304288"/>
            <a:ext cx="731520" cy="1115568"/>
          </a:xfrm>
          <a:prstGeom prst="rect">
            <a:avLst/>
          </a:prstGeom>
          <a:solidFill>
            <a:srgbClr val="3498DB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2304288"/>
            <a:ext cx="731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02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234440" y="2414016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AACC"/>
                </a:solidFill>
              </a:rPr>
              <a:t>AI는 1회성이다.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1234440" y="2834640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498DB"/>
                </a:solidFill>
              </a:rPr>
              <a:t>Harness는 누적된다.</a:t>
            </a:r>
            <a:endParaRPr lang="en-US" sz="2200" dirty="0"/>
          </a:p>
        </p:txBody>
      </p:sp>
      <p:sp>
        <p:nvSpPr>
          <p:cNvPr id="13" name="Shape 11"/>
          <p:cNvSpPr/>
          <p:nvPr/>
        </p:nvSpPr>
        <p:spPr>
          <a:xfrm>
            <a:off x="365760" y="3602736"/>
            <a:ext cx="8412480" cy="1115568"/>
          </a:xfrm>
          <a:prstGeom prst="rect">
            <a:avLst/>
          </a:prstGeom>
          <a:solidFill>
            <a:srgbClr val="16213E"/>
          </a:solidFill>
          <a:ln w="25400">
            <a:solidFill>
              <a:srgbClr val="E67E22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3602736"/>
            <a:ext cx="731520" cy="1115568"/>
          </a:xfrm>
          <a:prstGeom prst="rect">
            <a:avLst/>
          </a:prstGeom>
          <a:solidFill>
            <a:srgbClr val="E67E22"/>
          </a:solidFill>
          <a:ln w="12700">
            <a:solidFill>
              <a:srgbClr val="E67E2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602736"/>
            <a:ext cx="73152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234440" y="3712464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AAAACC"/>
                </a:solidFill>
              </a:rPr>
              <a:t>AI는 자유롭다.</a:t>
            </a:r>
            <a:endParaRPr lang="en-US" sz="1700" dirty="0"/>
          </a:p>
        </p:txBody>
      </p:sp>
      <p:sp>
        <p:nvSpPr>
          <p:cNvPr id="17" name="Text 15"/>
          <p:cNvSpPr/>
          <p:nvPr/>
        </p:nvSpPr>
        <p:spPr>
          <a:xfrm>
            <a:off x="1234440" y="4133088"/>
            <a:ext cx="71323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67E22"/>
                </a:solidFill>
              </a:rPr>
              <a:t>Harness는 구조적이다.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457200" y="477316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66688"/>
                </a:solidFill>
              </a:rPr>
              <a:t>세 가지가 합쳐질 때 — 빠르고 안전하고 저렴한 게임 제작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30</a:t>
            </a:r>
            <a:endParaRPr lang="en-US" sz="1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125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단독 vs Harness — 대립이 아니라 분업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1005840"/>
            <a:ext cx="3657600" cy="3749040"/>
          </a:xfrm>
          <a:prstGeom prst="rect">
            <a:avLst/>
          </a:prstGeom>
          <a:solidFill>
            <a:srgbClr val="EBF5FB"/>
          </a:solidFill>
          <a:ln w="25400">
            <a:solidFill>
              <a:srgbClr val="AED6F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05840"/>
            <a:ext cx="3657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980B9"/>
                </a:solidFill>
              </a:rPr>
              <a:t>AI 단독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💡  아이디어 발산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💡  기획 초안 작성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28346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💡  스토리·텍스트 생성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" y="347472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💡  컨셉 스케치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11480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💡  빠른 프로토타이핑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937760" y="1005840"/>
            <a:ext cx="3931920" cy="3749040"/>
          </a:xfrm>
          <a:prstGeom prst="rect">
            <a:avLst/>
          </a:prstGeom>
          <a:solidFill>
            <a:srgbClr val="F0FFF4"/>
          </a:solidFill>
          <a:ln w="25400">
            <a:solidFill>
              <a:srgbClr val="A8E6C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937760" y="1005840"/>
            <a:ext cx="3931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27AE60"/>
                </a:solidFill>
              </a:rPr>
              <a:t>Harness / Skill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120640" y="15544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⚙️  실제 콘텐츠 생성 (YAML)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120640" y="21945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⚙️  5개 자동 검증 게이트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120640" y="28346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⚙️  성장식·밸런스 관리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120640" y="3474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⚙️  엔진 JSON 컴파일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20640" y="4114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12529"/>
                </a:solidFill>
              </a:rPr>
              <a:t>⚙️  배포 + 리뷰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931920" y="2468880"/>
            <a:ext cx="914400" cy="914400"/>
          </a:xfrm>
          <a:prstGeom prst="ellipse">
            <a:avLst/>
          </a:prstGeom>
          <a:solidFill>
            <a:srgbClr val="1A1A2E"/>
          </a:solidFill>
          <a:ln w="12700">
            <a:solidFill>
              <a:srgbClr val="1A1A2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931920" y="2468880"/>
            <a:ext cx="914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+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7200" y="4873752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A1A2E"/>
                </a:solidFill>
              </a:rPr>
              <a:t>= 빠르고 안전한 게임 제작 체계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31</a:t>
            </a:r>
            <a:endParaRPr lang="en-US" sz="10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20040" y="0"/>
            <a:ext cx="109728" cy="51435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54864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함께 시작해 봅시다</a:t>
            </a:r>
            <a:endParaRPr lang="en-US" sz="3800" dirty="0"/>
          </a:p>
        </p:txBody>
      </p:sp>
      <p:sp>
        <p:nvSpPr>
          <p:cNvPr id="5" name="Shape 3"/>
          <p:cNvSpPr/>
          <p:nvPr/>
        </p:nvSpPr>
        <p:spPr>
          <a:xfrm>
            <a:off x="731520" y="1417320"/>
            <a:ext cx="8046720" cy="36576"/>
          </a:xfrm>
          <a:prstGeom prst="rect">
            <a:avLst/>
          </a:prstGeom>
          <a:solidFill>
            <a:srgbClr val="333366"/>
          </a:solidFill>
          <a:ln w="12700">
            <a:solidFill>
              <a:srgbClr val="33336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45920"/>
            <a:ext cx="50292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645920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71600" y="1719072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EE"/>
                </a:solidFill>
              </a:rPr>
              <a:t>필요한 것: Claude Code + idle-game-generator 프로젝트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731520" y="2542032"/>
            <a:ext cx="50292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31520" y="2542032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71600" y="2615184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EE"/>
                </a:solidFill>
              </a:rPr>
              <a:t>첫 번째 명령: /gen-unit [게임명] "유닛 설명"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31520" y="3438144"/>
            <a:ext cx="502920" cy="685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31520" y="3438144"/>
            <a:ext cx="502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03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371600" y="3511296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CCCEE"/>
                </a:solidFill>
              </a:rPr>
              <a:t>4주 파일럿: 기존 게임 1개 마이그레이션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31520" y="4251960"/>
            <a:ext cx="8046720" cy="685800"/>
          </a:xfrm>
          <a:prstGeom prst="rect">
            <a:avLst/>
          </a:prstGeom>
          <a:solidFill>
            <a:srgbClr val="0D3B26"/>
          </a:solidFill>
          <a:ln w="12700">
            <a:solidFill>
              <a:srgbClr val="0D3B2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2960" y="4279392"/>
            <a:ext cx="78638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27AE60"/>
                </a:solidFill>
              </a:rPr>
              <a:t>"AI는 도구입니다. Harness/Skill은 체계입니다."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686800" y="4846320"/>
            <a:ext cx="3657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C757D"/>
                </a:solidFill>
              </a:rPr>
              <a:t>32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왜 Harness/Skill인가</dc:title>
  <dc:subject>PptxGenJS Presentation</dc:subject>
  <dc:creator>PptxGenJS</dc:creator>
  <cp:lastModifiedBy>PptxGenJS</cp:lastModifiedBy>
  <cp:revision>1</cp:revision>
  <dcterms:created xsi:type="dcterms:W3CDTF">2026-05-22T05:08:54Z</dcterms:created>
  <dcterms:modified xsi:type="dcterms:W3CDTF">2026-05-22T05:08:54Z</dcterms:modified>
</cp:coreProperties>
</file>